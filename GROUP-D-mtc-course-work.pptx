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6" r:id="rId11"/>
    <p:sldId id="269" r:id="rId12"/>
    <p:sldId id="267" r:id="rId13"/>
    <p:sldId id="268" r:id="rId14"/>
    <p:sldId id="264" r:id="rId15"/>
    <p:sldId id="265" r:id="rId16"/>
    <p:sldId id="270" r:id="rId17"/>
    <p:sldId id="271" r:id="rId18"/>
    <p:sldId id="272" r:id="rId19"/>
    <p:sldId id="273" r:id="rId20"/>
    <p:sldId id="274" r:id="rId21"/>
    <p:sldId id="276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2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92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92250" y="556260"/>
            <a:ext cx="9175750" cy="2508885"/>
          </a:xfrm>
        </p:spPr>
        <p:txBody>
          <a:bodyPr>
            <a:normAutofit/>
          </a:bodyPr>
          <a:p>
            <a:r>
              <a:rPr lang="en-US" altLang="en-GB" sz="2665" b="1"/>
              <a:t>COURSE UNIT: MATHS IST 1106</a:t>
            </a:r>
            <a:br>
              <a:rPr lang="en-US" altLang="en-GB" sz="2665" b="1"/>
            </a:br>
            <a:r>
              <a:rPr lang="en-US" altLang="en-GB" sz="2665" b="1"/>
              <a:t>SEMESTER:1</a:t>
            </a:r>
            <a:br>
              <a:rPr lang="en-US" altLang="en-GB" sz="2665" b="1"/>
            </a:br>
            <a:r>
              <a:rPr lang="en-US" altLang="en-GB" sz="2665" b="1"/>
              <a:t>LECTURER: BYANSI DEVID</a:t>
            </a:r>
            <a:br>
              <a:rPr lang="en-US" altLang="en-GB" sz="2665" b="1"/>
            </a:br>
            <a:r>
              <a:rPr lang="en-US" altLang="en-GB" sz="2665" b="1"/>
              <a:t>GROUP: D</a:t>
            </a:r>
            <a:br>
              <a:rPr lang="en-US" altLang="en-GB" sz="2665" b="1"/>
            </a:br>
            <a:br>
              <a:rPr lang="en-US" altLang="en-GB" sz="2665"/>
            </a:br>
            <a:endParaRPr lang="en-US" altLang="en-GB" sz="2665"/>
          </a:p>
        </p:txBody>
      </p:sp>
      <p:graphicFrame>
        <p:nvGraphicFramePr>
          <p:cNvPr id="5" name="Table 4"/>
          <p:cNvGraphicFramePr/>
          <p:nvPr/>
        </p:nvGraphicFramePr>
        <p:xfrm>
          <a:off x="1828800" y="2715895"/>
          <a:ext cx="8533765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83710"/>
                <a:gridCol w="2124710"/>
                <a:gridCol w="212471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NAME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REGISTRATION NO.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STUDENT NO.</a:t>
                      </a:r>
                      <a:endParaRPr lang="en-US" altLang="en-GB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AINEBYONA VICTOR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26/U/04227/PSA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en-GB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ACHUDA FREDRICK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26/U/29544/PSA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2600729544</a:t>
                      </a:r>
                      <a:endParaRPr lang="en-US" altLang="en-GB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AKAMPURIRA IAN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26/U/03698/PS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en-GB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MBABAALI EDRINE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26/U/30208/PS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2600730208</a:t>
                      </a:r>
                      <a:endParaRPr lang="en-US" altLang="en-GB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KAKANDE UMAR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26/U/04111/PSA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2600703831</a:t>
                      </a:r>
                      <a:endParaRPr lang="en-US" altLang="en-GB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ODOI VINCENT 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26/U/30208/PS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2600730208</a:t>
                      </a:r>
                      <a:endParaRPr lang="en-US" altLang="en-GB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en-GB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GB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GB" altLang="en-US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altLang="en-GB" b="1"/>
              <a:t>QUESTIONS</a:t>
            </a:r>
            <a:endParaRPr lang="en-US" altLang="en-GB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GB"/>
              <a:t>1. OUTLINE THE MAIN BOOLEN LAWS YOU WILL YOUS.</a:t>
            </a:r>
            <a:endParaRPr lang="en-US" altLang="en-GB"/>
          </a:p>
          <a:p>
            <a:r>
              <a:rPr lang="en-US" altLang="en-GB"/>
              <a:t>2.OUTLINE DE MORGAN’S LAW’S</a:t>
            </a:r>
            <a:endParaRPr lang="en-US" altLang="en-GB"/>
          </a:p>
          <a:p>
            <a:r>
              <a:rPr lang="en-US" altLang="en-GB"/>
              <a:t>3.OUT LINE HOW DISTRIBUTIVE /ABSORPTION LAWS CAN BE USED TO SIMPLIFY EXPRESSIONS.</a:t>
            </a:r>
            <a:endParaRPr lang="en-US" altLang="en-GB"/>
          </a:p>
          <a:p>
            <a:r>
              <a:rPr lang="en-US" altLang="en-GB"/>
              <a:t>4. Provide a short cheat sheet for equivalences you consider most use ful.</a:t>
            </a:r>
            <a:endParaRPr lang="en-US" altLang="en-GB"/>
          </a:p>
          <a:p>
            <a:r>
              <a:rPr lang="en-US" altLang="en-GB"/>
              <a:t>5.Pprovide guidance on using truth tables to verify equivalance.</a:t>
            </a:r>
            <a:endParaRPr lang="en-US" altLang="en-GB"/>
          </a:p>
          <a:p>
            <a:endParaRPr lang="en-US" altLang="en-GB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pPr algn="ctr"/>
            <a:r>
              <a:rPr lang="en-US" altLang="en-GB" b="1">
                <a:solidFill>
                  <a:schemeClr val="accent5"/>
                </a:solidFill>
              </a:rPr>
              <a:t>NUMBER ONE</a:t>
            </a:r>
            <a:br>
              <a:rPr lang="en-US" altLang="en-GB"/>
            </a:br>
            <a:r>
              <a:rPr lang="en-US" altLang="en-GB"/>
              <a:t>FUNDAMENTALS OF BOOLEAN ALGEBRA</a:t>
            </a:r>
            <a:endParaRPr lang="en-US" alt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0000"/>
          </a:bodyPr>
          <a:p>
            <a:pPr marL="0" indent="0" algn="ctr">
              <a:buNone/>
            </a:pPr>
            <a:r>
              <a:rPr lang="en-US" altLang="en-GB" b="1" u="sng"/>
              <a:t>BOOLEAN  ALGEBRA LAWS</a:t>
            </a:r>
            <a:endParaRPr lang="en-US" altLang="en-GB" b="1" u="sng"/>
          </a:p>
          <a:p>
            <a:pPr marL="514350" indent="-514350" algn="l">
              <a:buFont typeface="Wingdings" panose="05000000000000000000" charset="0"/>
              <a:buAutoNum type="arabicPeriod"/>
            </a:pPr>
            <a:r>
              <a:rPr lang="en-US" altLang="en-GB"/>
              <a:t>Identity law</a:t>
            </a:r>
            <a:endParaRPr lang="en-US" altLang="en-GB"/>
          </a:p>
          <a:p>
            <a:pPr marL="514350" indent="-514350" algn="l">
              <a:buFont typeface="Wingdings" panose="05000000000000000000" charset="0"/>
              <a:buAutoNum type="arabicPeriod"/>
            </a:pPr>
            <a:r>
              <a:rPr lang="en-US" altLang="en-GB"/>
              <a:t>Null law</a:t>
            </a:r>
            <a:endParaRPr lang="en-US" altLang="en-GB"/>
          </a:p>
          <a:p>
            <a:pPr marL="514350" indent="-514350" algn="l">
              <a:buFont typeface="Wingdings" panose="05000000000000000000" charset="0"/>
              <a:buAutoNum type="arabicPeriod"/>
            </a:pPr>
            <a:r>
              <a:rPr lang="en-US" altLang="en-GB"/>
              <a:t>Idempotent law</a:t>
            </a:r>
            <a:endParaRPr lang="en-US" altLang="en-GB"/>
          </a:p>
          <a:p>
            <a:pPr marL="514350" indent="-514350" algn="l">
              <a:buFont typeface="Wingdings" panose="05000000000000000000" charset="0"/>
              <a:buAutoNum type="arabicPeriod"/>
            </a:pPr>
            <a:r>
              <a:rPr lang="en-US" altLang="en-GB"/>
              <a:t>Complement law</a:t>
            </a:r>
            <a:endParaRPr lang="en-US" altLang="en-GB"/>
          </a:p>
          <a:p>
            <a:pPr marL="514350" indent="-514350" algn="l">
              <a:buFont typeface="Wingdings" panose="05000000000000000000" charset="0"/>
              <a:buAutoNum type="arabicPeriod"/>
            </a:pPr>
            <a:r>
              <a:rPr lang="en-US" altLang="en-GB"/>
              <a:t>Commutative law</a:t>
            </a:r>
            <a:endParaRPr lang="en-US" altLang="en-GB"/>
          </a:p>
          <a:p>
            <a:pPr marL="514350" indent="-514350" algn="l">
              <a:buFont typeface="Wingdings" panose="05000000000000000000" charset="0"/>
              <a:buAutoNum type="arabicPeriod"/>
            </a:pPr>
            <a:r>
              <a:rPr lang="en-US" altLang="en-GB"/>
              <a:t>Associative law</a:t>
            </a:r>
            <a:endParaRPr lang="en-US" altLang="en-GB"/>
          </a:p>
          <a:p>
            <a:pPr marL="514350" indent="-514350" algn="l">
              <a:buFont typeface="Wingdings" panose="05000000000000000000" charset="0"/>
              <a:buAutoNum type="arabicPeriod"/>
            </a:pPr>
            <a:r>
              <a:rPr lang="en-US" altLang="en-GB"/>
              <a:t>Distributive Law</a:t>
            </a:r>
            <a:endParaRPr lang="en-US" altLang="en-GB"/>
          </a:p>
          <a:p>
            <a:pPr marL="514350" indent="-514350" algn="l">
              <a:buFont typeface="Wingdings" panose="05000000000000000000" charset="0"/>
              <a:buAutoNum type="arabicPeriod"/>
            </a:pPr>
            <a:r>
              <a:rPr lang="en-US" altLang="en-GB"/>
              <a:t>Absortion law</a:t>
            </a:r>
            <a:endParaRPr lang="en-US" altLang="en-GB"/>
          </a:p>
          <a:p>
            <a:pPr marL="514350" indent="-514350" algn="l">
              <a:buFont typeface="Wingdings" panose="05000000000000000000" charset="0"/>
              <a:buAutoNum type="arabicPeriod"/>
            </a:pPr>
            <a:r>
              <a:rPr lang="en-US" altLang="en-GB"/>
              <a:t>De morgan’s law</a:t>
            </a:r>
            <a:endParaRPr lang="en-US" altLang="en-GB"/>
          </a:p>
          <a:p>
            <a:pPr marL="514350" indent="-514350" algn="l">
              <a:buFont typeface="Wingdings" panose="05000000000000000000" charset="0"/>
              <a:buAutoNum type="arabicPeriod"/>
            </a:pPr>
            <a:r>
              <a:rPr lang="en-US" altLang="en-GB"/>
              <a:t>Double negation law</a:t>
            </a:r>
            <a:endParaRPr lang="en-US" altLang="en-GB"/>
          </a:p>
          <a:p>
            <a:pPr marL="514350" indent="-514350" algn="l">
              <a:buFont typeface="Wingdings" panose="05000000000000000000" charset="0"/>
              <a:buAutoNum type="arabicPeriod"/>
            </a:pPr>
            <a:r>
              <a:rPr lang="en-US" altLang="en-GB"/>
              <a:t>Consensus theorem</a:t>
            </a:r>
            <a:endParaRPr lang="en-US" altLang="en-GB"/>
          </a:p>
          <a:p>
            <a:pPr marL="0" indent="0" algn="l">
              <a:buFont typeface="Wingdings" panose="05000000000000000000" charset="0"/>
              <a:buNone/>
            </a:pPr>
            <a:endParaRPr lang="en-US" altLang="en-GB"/>
          </a:p>
          <a:p>
            <a:pPr marL="514350" indent="-514350" algn="l">
              <a:buFont typeface="Wingdings" panose="05000000000000000000" charset="0"/>
              <a:buAutoNum type="arabicPeriod"/>
            </a:pPr>
            <a:endParaRPr lang="en-US" altLang="en-GB"/>
          </a:p>
          <a:p>
            <a:pPr marL="514350" indent="-514350" algn="l">
              <a:buFont typeface="Wingdings" panose="05000000000000000000" charset="0"/>
              <a:buAutoNum type="arabicPeriod"/>
            </a:pPr>
            <a:endParaRPr lang="en-US" altLang="en-GB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altLang="en-GB"/>
              <a:t>1.</a:t>
            </a:r>
            <a:r>
              <a:rPr lang="en-US" altLang="en-GB" sz="5400" b="1">
                <a:sym typeface="+mn-ea"/>
              </a:rPr>
              <a:t>Identity law</a:t>
            </a:r>
            <a:endParaRPr lang="en-US" altLang="en-GB" sz="5400" b="1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0000"/>
          </a:bodyPr>
          <a:p>
            <a:pPr marL="0" indent="0" algn="l">
              <a:buFont typeface="Arial" panose="020B0604020202020204" pitchFamily="34" charset="0"/>
              <a:buNone/>
            </a:pPr>
            <a:endParaRPr lang="en-US" altLang="en-GB" sz="6600" b="1"/>
          </a:p>
          <a:p>
            <a:pPr marL="0" indent="0" algn="l">
              <a:buFont typeface="Arial" panose="020B0604020202020204" pitchFamily="34" charset="0"/>
              <a:buNone/>
            </a:pPr>
            <a:r>
              <a:rPr lang="en-US" altLang="en-GB" sz="6600" b="1"/>
              <a:t> </a:t>
            </a:r>
            <a:endParaRPr lang="en-US" altLang="en-GB" sz="6600" b="1"/>
          </a:p>
          <a:p>
            <a:pPr marL="0" indent="0" algn="l">
              <a:buFont typeface="Arial" panose="020B0604020202020204" pitchFamily="34" charset="0"/>
              <a:buNone/>
            </a:pPr>
            <a:endParaRPr lang="en-US" altLang="en-GB" b="1"/>
          </a:p>
          <a:p>
            <a:pPr marL="0" indent="0" algn="l">
              <a:buFont typeface="Arial" panose="020B0604020202020204" pitchFamily="34" charset="0"/>
              <a:buNone/>
            </a:pPr>
            <a:r>
              <a:rPr lang="en-US" altLang="en-GB" b="1"/>
              <a:t>eg if A = 1</a:t>
            </a:r>
            <a:endParaRPr lang="en-US" altLang="en-GB" b="1"/>
          </a:p>
          <a:p>
            <a:pPr marL="0" indent="0" algn="l">
              <a:buFont typeface="Arial" panose="020B0604020202020204" pitchFamily="34" charset="0"/>
              <a:buNone/>
            </a:pPr>
            <a:r>
              <a:rPr lang="en-US" altLang="en-GB" b="1"/>
              <a:t>1*1 =1</a:t>
            </a:r>
            <a:endParaRPr lang="en-US" altLang="en-GB" b="1"/>
          </a:p>
          <a:p>
            <a:pPr marL="0" indent="0" algn="l">
              <a:buFont typeface="Arial" panose="020B0604020202020204" pitchFamily="34" charset="0"/>
              <a:buNone/>
            </a:pPr>
            <a:r>
              <a:rPr lang="en-US" altLang="en-GB" b="1"/>
              <a:t>its also true on the addition side</a:t>
            </a:r>
            <a:endParaRPr lang="en-US" altLang="en-GB" b="1"/>
          </a:p>
          <a:p>
            <a:pPr marL="0" indent="0" algn="l">
              <a:buFont typeface="Arial" panose="020B0604020202020204" pitchFamily="34" charset="0"/>
              <a:buNone/>
            </a:pPr>
            <a:r>
              <a:rPr lang="en-US" altLang="en-GB" b="1"/>
              <a:t>if A = 0</a:t>
            </a:r>
            <a:endParaRPr lang="en-US" altLang="en-GB" b="1"/>
          </a:p>
          <a:p>
            <a:pPr marL="0" indent="0" algn="l">
              <a:buFont typeface="Arial" panose="020B0604020202020204" pitchFamily="34" charset="0"/>
              <a:buNone/>
            </a:pPr>
            <a:r>
              <a:rPr lang="en-US" altLang="en-GB" b="1"/>
              <a:t>0 + 0  =0</a:t>
            </a:r>
            <a:endParaRPr lang="en-US" altLang="en-GB" b="1"/>
          </a:p>
        </p:txBody>
      </p:sp>
      <p:graphicFrame>
        <p:nvGraphicFramePr>
          <p:cNvPr id="6" name="Table 5"/>
          <p:cNvGraphicFramePr/>
          <p:nvPr>
            <p:custDataLst>
              <p:tags r:id="rId1"/>
            </p:custDataLst>
          </p:nvPr>
        </p:nvGraphicFramePr>
        <p:xfrm>
          <a:off x="1237615" y="1691005"/>
          <a:ext cx="8982710" cy="1567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91355"/>
                <a:gridCol w="4491355"/>
              </a:tblGrid>
              <a:tr h="78359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sz="1800">
                          <a:sym typeface="+mn-ea"/>
                        </a:rPr>
                        <a:t>FOR MULTIPLICATION</a:t>
                      </a:r>
                      <a:endParaRPr lang="en-US" altLang="en-GB" sz="1800" b="1"/>
                    </a:p>
                    <a:p>
                      <a:pPr>
                        <a:buNone/>
                      </a:pPr>
                      <a:endParaRPr lang="en-GB" altLang="en-US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FOR ADDITION</a:t>
                      </a:r>
                      <a:endParaRPr lang="en-US" altLang="en-GB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  <a:tr h="78359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sz="6600"/>
                        <a:t>A1 = A</a:t>
                      </a:r>
                      <a:endParaRPr lang="en-US" altLang="en-GB" sz="660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sz="6600"/>
                        <a:t>A+0 =A</a:t>
                      </a:r>
                      <a:endParaRPr lang="en-US" altLang="en-GB" sz="660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7" name="Flowchart: Connector 6"/>
          <p:cNvSpPr/>
          <p:nvPr/>
        </p:nvSpPr>
        <p:spPr>
          <a:xfrm>
            <a:off x="1751330" y="2961640"/>
            <a:ext cx="161925" cy="161290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altLang="en-GB" b="1"/>
              <a:t>2.Null</a:t>
            </a:r>
            <a:r>
              <a:rPr lang="en-US" altLang="en-GB" sz="5400" b="1">
                <a:sym typeface="+mn-ea"/>
              </a:rPr>
              <a:t> law</a:t>
            </a:r>
            <a:endParaRPr lang="en-US" altLang="en-GB" sz="5400" b="1">
              <a:sym typeface="+mn-ea"/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>
            <a:normAutofit fontScale="80000"/>
          </a:bodyPr>
          <a:p>
            <a:pPr marL="0" indent="0" algn="l">
              <a:buFont typeface="Arial" panose="020B0604020202020204" pitchFamily="34" charset="0"/>
              <a:buNone/>
            </a:pPr>
            <a:endParaRPr lang="en-US" altLang="en-GB" sz="6600" b="1"/>
          </a:p>
          <a:p>
            <a:pPr marL="0" indent="0" algn="l">
              <a:buFont typeface="Arial" panose="020B0604020202020204" pitchFamily="34" charset="0"/>
              <a:buNone/>
            </a:pPr>
            <a:r>
              <a:rPr lang="en-US" altLang="en-GB" sz="6600" b="1"/>
              <a:t> </a:t>
            </a:r>
            <a:endParaRPr lang="en-US" altLang="en-GB" sz="6600" b="1"/>
          </a:p>
          <a:p>
            <a:pPr marL="0" indent="0" algn="l">
              <a:buFont typeface="Arial" panose="020B0604020202020204" pitchFamily="34" charset="0"/>
              <a:buNone/>
            </a:pPr>
            <a:endParaRPr lang="en-US" altLang="en-GB" b="1"/>
          </a:p>
          <a:p>
            <a:pPr marL="0" indent="0" algn="l">
              <a:buFont typeface="Arial" panose="020B0604020202020204" pitchFamily="34" charset="0"/>
              <a:buNone/>
            </a:pPr>
            <a:r>
              <a:rPr lang="en-US" altLang="en-GB" b="1"/>
              <a:t>eg if A = 1</a:t>
            </a:r>
            <a:endParaRPr lang="en-US" altLang="en-GB" b="1"/>
          </a:p>
          <a:p>
            <a:pPr marL="0" indent="0" algn="l">
              <a:buFont typeface="Arial" panose="020B0604020202020204" pitchFamily="34" charset="0"/>
              <a:buNone/>
            </a:pPr>
            <a:r>
              <a:rPr lang="en-US" altLang="en-GB" b="1"/>
              <a:t>1*0 = 0</a:t>
            </a:r>
            <a:endParaRPr lang="en-US" altLang="en-GB" b="1"/>
          </a:p>
          <a:p>
            <a:pPr marL="0" indent="0" algn="l">
              <a:buFont typeface="Arial" panose="020B0604020202020204" pitchFamily="34" charset="0"/>
              <a:buNone/>
            </a:pPr>
            <a:r>
              <a:rPr lang="en-US" altLang="en-GB" b="1"/>
              <a:t>its also true on the addition side</a:t>
            </a:r>
            <a:endParaRPr lang="en-US" altLang="en-GB" b="1"/>
          </a:p>
          <a:p>
            <a:pPr marL="0" indent="0" algn="l">
              <a:buFont typeface="Arial" panose="020B0604020202020204" pitchFamily="34" charset="0"/>
              <a:buNone/>
            </a:pPr>
            <a:r>
              <a:rPr lang="en-US" altLang="en-GB" b="1"/>
              <a:t>if A = 0</a:t>
            </a:r>
            <a:endParaRPr lang="en-US" altLang="en-GB" b="1"/>
          </a:p>
          <a:p>
            <a:pPr marL="0" indent="0" algn="l">
              <a:buFont typeface="Arial" panose="020B0604020202020204" pitchFamily="34" charset="0"/>
              <a:buNone/>
            </a:pPr>
            <a:r>
              <a:rPr lang="en-US" altLang="en-GB" b="1"/>
              <a:t>0 + 1 = 1</a:t>
            </a:r>
            <a:endParaRPr lang="en-US" altLang="en-GB" b="1"/>
          </a:p>
        </p:txBody>
      </p:sp>
      <p:graphicFrame>
        <p:nvGraphicFramePr>
          <p:cNvPr id="10" name="Table 9"/>
          <p:cNvGraphicFramePr/>
          <p:nvPr>
            <p:custDataLst>
              <p:tags r:id="rId1"/>
            </p:custDataLst>
          </p:nvPr>
        </p:nvGraphicFramePr>
        <p:xfrm>
          <a:off x="1237615" y="1691005"/>
          <a:ext cx="8982710" cy="1567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91355"/>
                <a:gridCol w="4491355"/>
              </a:tblGrid>
              <a:tr h="78359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sz="1800">
                          <a:sym typeface="+mn-ea"/>
                        </a:rPr>
                        <a:t>FOR MULTIPLICATION</a:t>
                      </a:r>
                      <a:endParaRPr lang="en-US" altLang="en-GB" sz="1800" b="1"/>
                    </a:p>
                    <a:p>
                      <a:pPr>
                        <a:buNone/>
                      </a:pPr>
                      <a:endParaRPr lang="en-GB" altLang="en-US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FOR ADDITION</a:t>
                      </a:r>
                      <a:endParaRPr lang="en-US" altLang="en-GB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  <a:tr h="78359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sz="6600"/>
                        <a:t>A 0 = 0</a:t>
                      </a:r>
                      <a:endParaRPr lang="en-US" altLang="en-GB" sz="660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sz="6600"/>
                        <a:t>A+1=1</a:t>
                      </a:r>
                      <a:endParaRPr lang="en-US" altLang="en-GB" sz="660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1" name="Flowchart: Connector 10"/>
          <p:cNvSpPr/>
          <p:nvPr/>
        </p:nvSpPr>
        <p:spPr>
          <a:xfrm>
            <a:off x="1751330" y="2961640"/>
            <a:ext cx="161925" cy="161290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GB"/>
              <a:t> </a:t>
            </a:r>
            <a:endParaRPr lang="en-US" altLang="en-GB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60145"/>
          </a:xfrm>
        </p:spPr>
        <p:txBody>
          <a:bodyPr/>
          <a:p>
            <a:pPr algn="ctr"/>
            <a:r>
              <a:rPr lang="en-US" altLang="en-GB" b="1"/>
              <a:t>3.Idempotent</a:t>
            </a:r>
            <a:r>
              <a:rPr lang="en-US" altLang="en-GB"/>
              <a:t> </a:t>
            </a:r>
            <a:r>
              <a:rPr lang="en-US" altLang="en-GB" sz="5400" b="1">
                <a:sym typeface="+mn-ea"/>
              </a:rPr>
              <a:t>law</a:t>
            </a:r>
            <a:endParaRPr lang="en-US" altLang="en-GB" sz="5400" b="1">
              <a:sym typeface="+mn-ea"/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838200" y="1525905"/>
            <a:ext cx="10515600" cy="4651375"/>
          </a:xfrm>
        </p:spPr>
        <p:txBody>
          <a:bodyPr>
            <a:normAutofit fontScale="70000"/>
          </a:bodyPr>
          <a:p>
            <a:pPr marL="0" indent="0" algn="l">
              <a:buFont typeface="Arial" panose="020B0604020202020204" pitchFamily="34" charset="0"/>
              <a:buNone/>
            </a:pPr>
            <a:endParaRPr lang="en-US" altLang="en-GB" sz="6600" b="1"/>
          </a:p>
          <a:p>
            <a:pPr marL="0" indent="0" algn="l">
              <a:buFont typeface="Arial" panose="020B0604020202020204" pitchFamily="34" charset="0"/>
              <a:buNone/>
            </a:pPr>
            <a:r>
              <a:rPr lang="en-US" altLang="en-GB" sz="6600" b="1"/>
              <a:t> </a:t>
            </a:r>
            <a:endParaRPr lang="en-US" altLang="en-GB" sz="6600" b="1"/>
          </a:p>
          <a:p>
            <a:pPr marL="0" indent="0" algn="l">
              <a:buFont typeface="Arial" panose="020B0604020202020204" pitchFamily="34" charset="0"/>
              <a:buNone/>
            </a:pPr>
            <a:endParaRPr lang="en-US" altLang="en-GB" b="1"/>
          </a:p>
          <a:p>
            <a:pPr marL="0" indent="0" algn="l">
              <a:buFont typeface="Arial" panose="020B0604020202020204" pitchFamily="34" charset="0"/>
              <a:buNone/>
            </a:pPr>
            <a:r>
              <a:rPr lang="en-US" altLang="en-GB" b="1"/>
              <a:t>eg if A = 1</a:t>
            </a:r>
            <a:endParaRPr lang="en-US" altLang="en-GB" b="1"/>
          </a:p>
          <a:p>
            <a:pPr marL="0" indent="0" algn="l">
              <a:buFont typeface="Arial" panose="020B0604020202020204" pitchFamily="34" charset="0"/>
              <a:buNone/>
            </a:pPr>
            <a:r>
              <a:rPr lang="en-US" altLang="en-GB" b="1"/>
              <a:t>1*1 = 1</a:t>
            </a:r>
            <a:endParaRPr lang="en-US" altLang="en-GB" b="1"/>
          </a:p>
          <a:p>
            <a:pPr marL="0" indent="0" algn="l">
              <a:buFont typeface="Arial" panose="020B0604020202020204" pitchFamily="34" charset="0"/>
              <a:buNone/>
            </a:pPr>
            <a:r>
              <a:rPr lang="en-US" altLang="en-GB" b="1"/>
              <a:t>its also true on the addition side</a:t>
            </a:r>
            <a:endParaRPr lang="en-US" altLang="en-GB" b="1"/>
          </a:p>
          <a:p>
            <a:pPr marL="0" indent="0" algn="l">
              <a:buFont typeface="Arial" panose="020B0604020202020204" pitchFamily="34" charset="0"/>
              <a:buNone/>
            </a:pPr>
            <a:r>
              <a:rPr lang="en-US" altLang="en-GB" b="1"/>
              <a:t>if A = 0</a:t>
            </a:r>
            <a:endParaRPr lang="en-US" altLang="en-GB" b="1"/>
          </a:p>
          <a:p>
            <a:pPr marL="0" indent="0" algn="l">
              <a:buFont typeface="Arial" panose="020B0604020202020204" pitchFamily="34" charset="0"/>
              <a:buNone/>
            </a:pPr>
            <a:r>
              <a:rPr lang="en-US" altLang="en-GB" b="1"/>
              <a:t>0 + 0 = 0</a:t>
            </a:r>
            <a:endParaRPr lang="en-US" altLang="en-GB" b="1"/>
          </a:p>
          <a:p>
            <a:pPr marL="0" indent="0" algn="l">
              <a:buFont typeface="Arial" panose="020B0604020202020204" pitchFamily="34" charset="0"/>
              <a:buNone/>
            </a:pPr>
            <a:r>
              <a:rPr lang="en-US" altLang="en-GB" b="1"/>
              <a:t>Since in computers and we deal with 0’s and 1’s it must be true for 1 +1 = 1  leaving out 2</a:t>
            </a:r>
            <a:endParaRPr lang="en-US" altLang="en-GB" b="1"/>
          </a:p>
        </p:txBody>
      </p:sp>
      <p:graphicFrame>
        <p:nvGraphicFramePr>
          <p:cNvPr id="10" name="Table 9"/>
          <p:cNvGraphicFramePr/>
          <p:nvPr>
            <p:custDataLst>
              <p:tags r:id="rId1"/>
            </p:custDataLst>
          </p:nvPr>
        </p:nvGraphicFramePr>
        <p:xfrm>
          <a:off x="987425" y="1658620"/>
          <a:ext cx="9232900" cy="1821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16450"/>
                <a:gridCol w="4616450"/>
              </a:tblGrid>
              <a:tr h="70421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sz="1800">
                          <a:sym typeface="+mn-ea"/>
                        </a:rPr>
                        <a:t>FOR MULTIPLICATION</a:t>
                      </a:r>
                      <a:endParaRPr lang="en-US" altLang="en-GB" sz="1800" b="1"/>
                    </a:p>
                    <a:p>
                      <a:pPr>
                        <a:buNone/>
                      </a:pPr>
                      <a:endParaRPr lang="en-GB" altLang="en-US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FOR ADDITION</a:t>
                      </a:r>
                      <a:endParaRPr lang="en-US" altLang="en-GB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  <a:tr h="111696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sz="6600"/>
                        <a:t> A A= A</a:t>
                      </a:r>
                      <a:endParaRPr lang="en-US" altLang="en-GB" sz="660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sz="6600"/>
                        <a:t>A+A=A</a:t>
                      </a:r>
                      <a:endParaRPr lang="en-US" altLang="en-GB" sz="660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1" name="Flowchart: Connector 10"/>
          <p:cNvSpPr/>
          <p:nvPr/>
        </p:nvSpPr>
        <p:spPr>
          <a:xfrm>
            <a:off x="1751330" y="2961640"/>
            <a:ext cx="161925" cy="161290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GB"/>
              <a:t> </a:t>
            </a:r>
            <a:endParaRPr lang="en-US" altLang="en-GB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altLang="en-GB" b="1"/>
              <a:t>4.</a:t>
            </a:r>
            <a:r>
              <a:rPr lang="en-US" altLang="en-GB" b="1"/>
              <a:t>Complement </a:t>
            </a:r>
            <a:r>
              <a:rPr lang="en-US" altLang="en-GB" sz="5400" b="1">
                <a:sym typeface="+mn-ea"/>
              </a:rPr>
              <a:t>law</a:t>
            </a:r>
            <a:endParaRPr lang="en-US" altLang="en-GB" sz="5400" b="1">
              <a:sym typeface="+mn-ea"/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>
            <a:normAutofit fontScale="60000"/>
          </a:bodyPr>
          <a:p>
            <a:pPr marL="0" indent="0" algn="l">
              <a:buFont typeface="Arial" panose="020B0604020202020204" pitchFamily="34" charset="0"/>
              <a:buNone/>
            </a:pPr>
            <a:endParaRPr lang="en-US" altLang="en-GB" sz="6600" b="1"/>
          </a:p>
          <a:p>
            <a:pPr marL="0" indent="0" algn="l">
              <a:buFont typeface="Arial" panose="020B0604020202020204" pitchFamily="34" charset="0"/>
              <a:buNone/>
            </a:pPr>
            <a:r>
              <a:rPr lang="en-US" altLang="en-GB" sz="6600" b="1"/>
              <a:t> </a:t>
            </a:r>
            <a:endParaRPr lang="en-US" altLang="en-GB" sz="6600" b="1"/>
          </a:p>
          <a:p>
            <a:pPr marL="0" indent="0" algn="l">
              <a:buFont typeface="Arial" panose="020B0604020202020204" pitchFamily="34" charset="0"/>
              <a:buNone/>
            </a:pPr>
            <a:endParaRPr lang="en-US" altLang="en-GB" b="1"/>
          </a:p>
          <a:p>
            <a:pPr marL="0" indent="0" algn="l">
              <a:buFont typeface="Arial" panose="020B0604020202020204" pitchFamily="34" charset="0"/>
              <a:buNone/>
            </a:pPr>
            <a:r>
              <a:rPr lang="en-US" altLang="en-GB" b="1"/>
              <a:t>eg if A = 1</a:t>
            </a:r>
            <a:endParaRPr lang="en-US" altLang="en-GB" b="1"/>
          </a:p>
          <a:p>
            <a:pPr marL="0" indent="0" algn="l">
              <a:buFont typeface="Arial" panose="020B0604020202020204" pitchFamily="34" charset="0"/>
              <a:buNone/>
            </a:pPr>
            <a:r>
              <a:rPr lang="en-US" altLang="en-GB" b="1"/>
              <a:t>1*0 = 0</a:t>
            </a:r>
            <a:endParaRPr lang="en-US" altLang="en-GB" b="1"/>
          </a:p>
          <a:p>
            <a:pPr marL="0" indent="0" algn="l">
              <a:buFont typeface="Arial" panose="020B0604020202020204" pitchFamily="34" charset="0"/>
              <a:buNone/>
            </a:pPr>
            <a:r>
              <a:rPr lang="en-US" altLang="en-GB" b="1"/>
              <a:t>its also true on the addition side</a:t>
            </a:r>
            <a:endParaRPr lang="en-US" altLang="en-GB" b="1"/>
          </a:p>
          <a:p>
            <a:pPr marL="0" indent="0" algn="l">
              <a:buFont typeface="Arial" panose="020B0604020202020204" pitchFamily="34" charset="0"/>
              <a:buNone/>
            </a:pPr>
            <a:r>
              <a:rPr lang="en-US" altLang="en-GB" b="1"/>
              <a:t>if A = 0</a:t>
            </a:r>
            <a:endParaRPr lang="en-US" altLang="en-GB" b="1"/>
          </a:p>
          <a:p>
            <a:pPr marL="0" indent="0" algn="l">
              <a:buFont typeface="Arial" panose="020B0604020202020204" pitchFamily="34" charset="0"/>
              <a:buNone/>
            </a:pPr>
            <a:r>
              <a:rPr lang="en-US" altLang="en-GB" b="1"/>
              <a:t>0 + 1 = 1</a:t>
            </a:r>
            <a:endParaRPr lang="en-US" altLang="en-GB" b="1"/>
          </a:p>
          <a:p>
            <a:pPr marL="0" indent="0" algn="l">
              <a:buFont typeface="Arial" panose="020B0604020202020204" pitchFamily="34" charset="0"/>
              <a:buNone/>
            </a:pPr>
            <a:r>
              <a:rPr lang="en-US" altLang="en-GB" b="1"/>
              <a:t>The complement is like the oposite on or off , yes or no and o’S and 1”s also do</a:t>
            </a:r>
            <a:endParaRPr lang="en-US" altLang="en-GB" b="1"/>
          </a:p>
        </p:txBody>
      </p:sp>
      <p:graphicFrame>
        <p:nvGraphicFramePr>
          <p:cNvPr id="10" name="Table 9"/>
          <p:cNvGraphicFramePr/>
          <p:nvPr>
            <p:custDataLst>
              <p:tags r:id="rId1"/>
            </p:custDataLst>
          </p:nvPr>
        </p:nvGraphicFramePr>
        <p:xfrm>
          <a:off x="1237615" y="1691005"/>
          <a:ext cx="8982710" cy="1567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91355"/>
                <a:gridCol w="4491355"/>
              </a:tblGrid>
              <a:tr h="78359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sz="1800">
                          <a:sym typeface="+mn-ea"/>
                        </a:rPr>
                        <a:t>FOR MULTIPLICATION</a:t>
                      </a:r>
                      <a:endParaRPr lang="en-US" altLang="en-GB" sz="1800" b="1"/>
                    </a:p>
                    <a:p>
                      <a:pPr>
                        <a:buNone/>
                      </a:pPr>
                      <a:endParaRPr lang="en-GB" altLang="en-US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FOR ADDITION</a:t>
                      </a:r>
                      <a:endParaRPr lang="en-US" altLang="en-GB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  <a:tr h="78359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sz="6600"/>
                        <a:t>A A = 0</a:t>
                      </a:r>
                      <a:endParaRPr lang="en-US" altLang="en-GB" sz="660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sz="6600"/>
                        <a:t>A+A=1</a:t>
                      </a:r>
                      <a:endParaRPr lang="en-US" altLang="en-GB" sz="660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1" name="Flowchart: Connector 10"/>
          <p:cNvSpPr/>
          <p:nvPr/>
        </p:nvSpPr>
        <p:spPr>
          <a:xfrm>
            <a:off x="1751330" y="2961640"/>
            <a:ext cx="161925" cy="161290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GB"/>
              <a:t> </a:t>
            </a:r>
            <a:endParaRPr lang="en-US" altLang="en-GB"/>
          </a:p>
        </p:txBody>
      </p:sp>
      <p:sp>
        <p:nvSpPr>
          <p:cNvPr id="5" name="Minus 4"/>
          <p:cNvSpPr/>
          <p:nvPr/>
        </p:nvSpPr>
        <p:spPr>
          <a:xfrm>
            <a:off x="1913890" y="2502535"/>
            <a:ext cx="603250" cy="356235"/>
          </a:xfrm>
          <a:prstGeom prst="mathMinus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6" name="Minus 5"/>
          <p:cNvSpPr/>
          <p:nvPr/>
        </p:nvSpPr>
        <p:spPr>
          <a:xfrm>
            <a:off x="6645910" y="2502535"/>
            <a:ext cx="603250" cy="356235"/>
          </a:xfrm>
          <a:prstGeom prst="mathMinus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60145"/>
          </a:xfrm>
        </p:spPr>
        <p:txBody>
          <a:bodyPr/>
          <a:p>
            <a:pPr algn="ctr"/>
            <a:r>
              <a:rPr lang="en-US" altLang="en-GB" b="1"/>
              <a:t>5.Commutative</a:t>
            </a:r>
            <a:r>
              <a:rPr lang="en-US" altLang="en-GB"/>
              <a:t> </a:t>
            </a:r>
            <a:r>
              <a:rPr lang="en-US" altLang="en-GB" sz="5400" b="1">
                <a:sym typeface="+mn-ea"/>
              </a:rPr>
              <a:t>law</a:t>
            </a:r>
            <a:endParaRPr lang="en-US" altLang="en-GB" sz="5400" b="1">
              <a:sym typeface="+mn-ea"/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838200" y="1525905"/>
            <a:ext cx="10515600" cy="4651375"/>
          </a:xfrm>
        </p:spPr>
        <p:txBody>
          <a:bodyPr>
            <a:normAutofit fontScale="90000"/>
          </a:bodyPr>
          <a:p>
            <a:pPr marL="0" indent="0" algn="l">
              <a:buFont typeface="Arial" panose="020B0604020202020204" pitchFamily="34" charset="0"/>
              <a:buNone/>
            </a:pPr>
            <a:endParaRPr lang="en-US" altLang="en-GB" sz="6600" b="1"/>
          </a:p>
          <a:p>
            <a:pPr marL="0" indent="0" algn="l">
              <a:buFont typeface="Arial" panose="020B0604020202020204" pitchFamily="34" charset="0"/>
              <a:buNone/>
            </a:pPr>
            <a:r>
              <a:rPr lang="en-US" altLang="en-GB" sz="6600" b="1"/>
              <a:t> </a:t>
            </a:r>
            <a:endParaRPr lang="en-US" altLang="en-GB" sz="6600" b="1"/>
          </a:p>
          <a:p>
            <a:pPr marL="0" indent="0" algn="l">
              <a:buFont typeface="Arial" panose="020B0604020202020204" pitchFamily="34" charset="0"/>
              <a:buNone/>
            </a:pPr>
            <a:endParaRPr lang="en-US" altLang="en-GB" b="1"/>
          </a:p>
          <a:p>
            <a:pPr marL="0" indent="0" algn="l">
              <a:buFont typeface="Arial" panose="020B0604020202020204" pitchFamily="34" charset="0"/>
              <a:buNone/>
            </a:pPr>
            <a:r>
              <a:rPr lang="en-US" altLang="en-GB" b="1"/>
              <a:t>eg if A = 1 and B = 0</a:t>
            </a:r>
            <a:endParaRPr lang="en-US" altLang="en-GB" b="1"/>
          </a:p>
          <a:p>
            <a:pPr marL="0" indent="0" algn="l">
              <a:buFont typeface="Arial" panose="020B0604020202020204" pitchFamily="34" charset="0"/>
              <a:buNone/>
            </a:pPr>
            <a:r>
              <a:rPr lang="en-US" altLang="en-GB" b="1"/>
              <a:t>A+B = B+ A</a:t>
            </a:r>
            <a:endParaRPr lang="en-US" altLang="en-GB" b="1"/>
          </a:p>
          <a:p>
            <a:pPr marL="0" indent="0" algn="l">
              <a:buFont typeface="Arial" panose="020B0604020202020204" pitchFamily="34" charset="0"/>
              <a:buNone/>
            </a:pPr>
            <a:r>
              <a:rPr lang="en-US" altLang="en-GB" b="1"/>
              <a:t>1+O = 0+1</a:t>
            </a:r>
            <a:endParaRPr lang="en-US" altLang="en-GB" b="1"/>
          </a:p>
          <a:p>
            <a:pPr marL="0" indent="0" algn="l">
              <a:buFont typeface="Arial" panose="020B0604020202020204" pitchFamily="34" charset="0"/>
              <a:buNone/>
            </a:pPr>
            <a:r>
              <a:rPr lang="en-US" altLang="en-GB" b="1"/>
              <a:t>1      =   1</a:t>
            </a:r>
            <a:endParaRPr lang="en-US" altLang="en-GB" b="1"/>
          </a:p>
          <a:p>
            <a:pPr marL="0" indent="0" algn="l">
              <a:buFont typeface="Arial" panose="020B0604020202020204" pitchFamily="34" charset="0"/>
              <a:buNone/>
            </a:pPr>
            <a:endParaRPr lang="en-US" altLang="en-GB" b="1"/>
          </a:p>
        </p:txBody>
      </p:sp>
      <p:graphicFrame>
        <p:nvGraphicFramePr>
          <p:cNvPr id="10" name="Table 9"/>
          <p:cNvGraphicFramePr/>
          <p:nvPr>
            <p:custDataLst>
              <p:tags r:id="rId1"/>
            </p:custDataLst>
          </p:nvPr>
        </p:nvGraphicFramePr>
        <p:xfrm>
          <a:off x="987425" y="1658620"/>
          <a:ext cx="9232900" cy="1821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16450"/>
                <a:gridCol w="4616450"/>
              </a:tblGrid>
              <a:tr h="70421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sz="1800">
                          <a:sym typeface="+mn-ea"/>
                        </a:rPr>
                        <a:t>FOR MULTIPLICATION</a:t>
                      </a:r>
                      <a:endParaRPr lang="en-US" altLang="en-GB" sz="1800" b="1"/>
                    </a:p>
                    <a:p>
                      <a:pPr>
                        <a:buNone/>
                      </a:pPr>
                      <a:endParaRPr lang="en-GB" altLang="en-US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FOR ADDITION</a:t>
                      </a:r>
                      <a:endParaRPr lang="en-US" altLang="en-GB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  <a:tr h="111696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sz="6600"/>
                        <a:t> A B= B A</a:t>
                      </a:r>
                      <a:endParaRPr lang="en-US" altLang="en-GB" sz="660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sz="6600"/>
                        <a:t>A+B=B+A</a:t>
                      </a:r>
                      <a:endParaRPr lang="en-US" altLang="en-GB" sz="660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1" name="Flowchart: Connector 10"/>
          <p:cNvSpPr/>
          <p:nvPr/>
        </p:nvSpPr>
        <p:spPr>
          <a:xfrm>
            <a:off x="3465830" y="2800350"/>
            <a:ext cx="161925" cy="161290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GB"/>
              <a:t> </a:t>
            </a:r>
            <a:endParaRPr lang="en-US" altLang="en-GB"/>
          </a:p>
        </p:txBody>
      </p:sp>
      <p:sp>
        <p:nvSpPr>
          <p:cNvPr id="17" name="Flowchart: Connector 16"/>
          <p:cNvSpPr/>
          <p:nvPr/>
        </p:nvSpPr>
        <p:spPr>
          <a:xfrm flipV="1">
            <a:off x="1769110" y="2849880"/>
            <a:ext cx="144780" cy="111760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GB"/>
              <a:t> </a:t>
            </a:r>
            <a:endParaRPr lang="en-US" altLang="en-GB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pPr algn="ctr"/>
            <a:r>
              <a:rPr lang="en-US" altLang="en-GB" b="1">
                <a:solidFill>
                  <a:schemeClr val="accent5"/>
                </a:solidFill>
              </a:rPr>
              <a:t> </a:t>
            </a:r>
            <a:r>
              <a:rPr lang="en-US" altLang="en-GB" b="1" u="sng">
                <a:solidFill>
                  <a:schemeClr val="accent5"/>
                </a:solidFill>
              </a:rPr>
              <a:t>NUMBER TWO</a:t>
            </a:r>
            <a:br>
              <a:rPr lang="en-US" altLang="en-GB"/>
            </a:br>
            <a:r>
              <a:rPr lang="en-US" altLang="en-GB"/>
              <a:t>6. </a:t>
            </a:r>
            <a:r>
              <a:rPr lang="en-US" altLang="en-GB" b="1"/>
              <a:t>DE MOGARN’S LAW</a:t>
            </a:r>
            <a:endParaRPr lang="en-US" altLang="en-GB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457200" lvl="1" indent="0">
              <a:buNone/>
            </a:pPr>
            <a:r>
              <a:rPr lang="en-US" altLang="en-GB" sz="6600"/>
              <a:t>A B = A + B</a:t>
            </a:r>
            <a:endParaRPr lang="en-US" altLang="en-GB" sz="6600"/>
          </a:p>
          <a:p>
            <a:pPr marL="457200" lvl="1" indent="0">
              <a:buNone/>
            </a:pPr>
            <a:r>
              <a:rPr lang="en-US" altLang="en-GB" sz="6600">
                <a:solidFill>
                  <a:schemeClr val="accent1"/>
                </a:solidFill>
              </a:rPr>
              <a:t>ALSO</a:t>
            </a:r>
            <a:endParaRPr lang="en-US" altLang="en-GB" sz="6600">
              <a:solidFill>
                <a:schemeClr val="accent1"/>
              </a:solidFill>
            </a:endParaRPr>
          </a:p>
          <a:p>
            <a:pPr marL="457200" lvl="1" indent="0">
              <a:buNone/>
            </a:pPr>
            <a:r>
              <a:rPr lang="en-US" altLang="en-GB" sz="6600"/>
              <a:t>A+B = A B</a:t>
            </a:r>
            <a:endParaRPr lang="en-US" altLang="en-GB" sz="6600"/>
          </a:p>
        </p:txBody>
      </p:sp>
      <p:sp>
        <p:nvSpPr>
          <p:cNvPr id="12" name="Flowchart: Connector 11"/>
          <p:cNvSpPr/>
          <p:nvPr/>
        </p:nvSpPr>
        <p:spPr>
          <a:xfrm flipV="1">
            <a:off x="1898650" y="2270760"/>
            <a:ext cx="144780" cy="111760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GB"/>
              <a:t> </a:t>
            </a:r>
            <a:endParaRPr lang="en-US" altLang="en-GB"/>
          </a:p>
        </p:txBody>
      </p:sp>
      <p:sp>
        <p:nvSpPr>
          <p:cNvPr id="4" name="Flowchart: Connector 3"/>
          <p:cNvSpPr/>
          <p:nvPr/>
        </p:nvSpPr>
        <p:spPr>
          <a:xfrm flipV="1">
            <a:off x="4062730" y="4135120"/>
            <a:ext cx="144780" cy="111760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GB"/>
              <a:t> </a:t>
            </a:r>
            <a:endParaRPr lang="en-US" altLang="en-GB"/>
          </a:p>
        </p:txBody>
      </p:sp>
      <p:sp>
        <p:nvSpPr>
          <p:cNvPr id="5" name="Minus 4"/>
          <p:cNvSpPr/>
          <p:nvPr/>
        </p:nvSpPr>
        <p:spPr>
          <a:xfrm>
            <a:off x="1336675" y="1691005"/>
            <a:ext cx="1268730" cy="372745"/>
          </a:xfrm>
          <a:prstGeom prst="mathMinus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6" name="Minus 5"/>
          <p:cNvSpPr/>
          <p:nvPr/>
        </p:nvSpPr>
        <p:spPr>
          <a:xfrm>
            <a:off x="3228975" y="1707515"/>
            <a:ext cx="603250" cy="356235"/>
          </a:xfrm>
          <a:prstGeom prst="mathMinus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7" name="Minus 6"/>
          <p:cNvSpPr/>
          <p:nvPr/>
        </p:nvSpPr>
        <p:spPr>
          <a:xfrm>
            <a:off x="4455795" y="1691005"/>
            <a:ext cx="603250" cy="356235"/>
          </a:xfrm>
          <a:prstGeom prst="mathMinus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8" name="Minus 7"/>
          <p:cNvSpPr/>
          <p:nvPr/>
        </p:nvSpPr>
        <p:spPr>
          <a:xfrm>
            <a:off x="1473835" y="3620770"/>
            <a:ext cx="1210945" cy="405765"/>
          </a:xfrm>
          <a:prstGeom prst="mathMinus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9" name="Minus 8"/>
          <p:cNvSpPr/>
          <p:nvPr/>
        </p:nvSpPr>
        <p:spPr>
          <a:xfrm>
            <a:off x="3595370" y="3620770"/>
            <a:ext cx="372110" cy="356235"/>
          </a:xfrm>
          <a:prstGeom prst="mathMinus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10" name="Minus 9"/>
          <p:cNvSpPr/>
          <p:nvPr/>
        </p:nvSpPr>
        <p:spPr>
          <a:xfrm>
            <a:off x="4207510" y="3620770"/>
            <a:ext cx="392430" cy="356235"/>
          </a:xfrm>
          <a:prstGeom prst="mathMinus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/>
              <a:t>WHEN TO APPLY THEM</a:t>
            </a:r>
            <a:endParaRPr lang="en-US" alt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GB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 b="1"/>
              <a:t>7.ABSORPTION LAW</a:t>
            </a:r>
            <a:endParaRPr lang="en-US" altLang="en-GB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en-GB" sz="6600"/>
              <a:t>A (A+B) = A</a:t>
            </a:r>
            <a:endParaRPr lang="en-US" altLang="en-GB" sz="6600"/>
          </a:p>
          <a:p>
            <a:pPr marL="0" indent="0">
              <a:buNone/>
            </a:pPr>
            <a:r>
              <a:rPr lang="en-US" altLang="en-GB" sz="6600">
                <a:solidFill>
                  <a:schemeClr val="accent1"/>
                </a:solidFill>
              </a:rPr>
              <a:t>ALSO</a:t>
            </a:r>
            <a:endParaRPr lang="en-US" altLang="en-GB" sz="660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en-US" altLang="en-GB" sz="6600">
                <a:solidFill>
                  <a:schemeClr val="tx1"/>
                </a:solidFill>
              </a:rPr>
              <a:t>A+(A B) =A</a:t>
            </a:r>
            <a:endParaRPr lang="en-US" altLang="en-GB" sz="6600">
              <a:solidFill>
                <a:schemeClr val="tx1"/>
              </a:solidFill>
            </a:endParaRPr>
          </a:p>
        </p:txBody>
      </p:sp>
      <p:sp>
        <p:nvSpPr>
          <p:cNvPr id="12" name="Flowchart: Connector 11"/>
          <p:cNvSpPr/>
          <p:nvPr/>
        </p:nvSpPr>
        <p:spPr>
          <a:xfrm flipV="1">
            <a:off x="1449070" y="2270760"/>
            <a:ext cx="144780" cy="111760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GB"/>
              <a:t> </a:t>
            </a:r>
            <a:endParaRPr lang="en-US" altLang="en-GB"/>
          </a:p>
        </p:txBody>
      </p:sp>
      <p:sp>
        <p:nvSpPr>
          <p:cNvPr id="4" name="Flowchart: Connector 3"/>
          <p:cNvSpPr/>
          <p:nvPr/>
        </p:nvSpPr>
        <p:spPr>
          <a:xfrm flipV="1">
            <a:off x="2558415" y="4361815"/>
            <a:ext cx="144780" cy="111760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GB"/>
              <a:t> </a:t>
            </a:r>
            <a:endParaRPr lang="en-US" altLang="en-GB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/>
              <a:t>8.Double negation law</a:t>
            </a:r>
            <a:endParaRPr lang="en-US" alt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endParaRPr lang="en-US" altLang="en-GB" sz="9600" b="1"/>
          </a:p>
          <a:p>
            <a:pPr marL="0" indent="0">
              <a:buNone/>
            </a:pPr>
            <a:r>
              <a:rPr lang="en-US" altLang="en-GB" sz="9600" b="1"/>
              <a:t>           A =A</a:t>
            </a:r>
            <a:endParaRPr lang="en-US" altLang="en-GB" sz="9600" b="1"/>
          </a:p>
        </p:txBody>
      </p:sp>
      <p:sp>
        <p:nvSpPr>
          <p:cNvPr id="6" name="Minus 5"/>
          <p:cNvSpPr/>
          <p:nvPr/>
        </p:nvSpPr>
        <p:spPr>
          <a:xfrm>
            <a:off x="3862070" y="3217545"/>
            <a:ext cx="919480" cy="389255"/>
          </a:xfrm>
          <a:prstGeom prst="mathMinus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4" name="Minus 3"/>
          <p:cNvSpPr/>
          <p:nvPr/>
        </p:nvSpPr>
        <p:spPr>
          <a:xfrm>
            <a:off x="3856355" y="3039745"/>
            <a:ext cx="919480" cy="389255"/>
          </a:xfrm>
          <a:prstGeom prst="mathMinus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60145"/>
          </a:xfrm>
        </p:spPr>
        <p:txBody>
          <a:bodyPr>
            <a:normAutofit fontScale="90000"/>
          </a:bodyPr>
          <a:p>
            <a:pPr algn="ctr"/>
            <a:br>
              <a:rPr lang="en-US" altLang="en-GB" b="1"/>
            </a:br>
            <a:r>
              <a:rPr lang="en-US" altLang="en-GB" b="1"/>
              <a:t>6.Associative</a:t>
            </a:r>
            <a:r>
              <a:rPr lang="en-US" altLang="en-GB"/>
              <a:t> </a:t>
            </a:r>
            <a:r>
              <a:rPr lang="en-US" altLang="en-GB" sz="5400" b="1">
                <a:sym typeface="+mn-ea"/>
              </a:rPr>
              <a:t>law</a:t>
            </a:r>
            <a:endParaRPr lang="en-US" altLang="en-GB" sz="5400" b="1">
              <a:sym typeface="+mn-ea"/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838200" y="1525905"/>
            <a:ext cx="10515600" cy="4651375"/>
          </a:xfrm>
        </p:spPr>
        <p:txBody>
          <a:bodyPr>
            <a:normAutofit lnSpcReduction="20000"/>
          </a:bodyPr>
          <a:p>
            <a:pPr marL="0" indent="0" algn="l">
              <a:buFont typeface="Arial" panose="020B0604020202020204" pitchFamily="34" charset="0"/>
              <a:buNone/>
            </a:pPr>
            <a:endParaRPr lang="en-US" altLang="en-GB" sz="6600" b="1"/>
          </a:p>
          <a:p>
            <a:pPr marL="0" indent="0" algn="l">
              <a:buFont typeface="Arial" panose="020B0604020202020204" pitchFamily="34" charset="0"/>
              <a:buNone/>
            </a:pPr>
            <a:r>
              <a:rPr lang="en-US" altLang="en-GB" sz="6600" b="1"/>
              <a:t> </a:t>
            </a:r>
            <a:endParaRPr lang="en-US" altLang="en-GB" sz="6600" b="1"/>
          </a:p>
          <a:p>
            <a:pPr marL="0" indent="0" algn="l">
              <a:buFont typeface="Arial" panose="020B0604020202020204" pitchFamily="34" charset="0"/>
              <a:buNone/>
            </a:pPr>
            <a:endParaRPr lang="en-US" altLang="en-GB" b="1"/>
          </a:p>
          <a:p>
            <a:pPr marL="0" indent="0" algn="l">
              <a:buFont typeface="Arial" panose="020B0604020202020204" pitchFamily="34" charset="0"/>
              <a:buNone/>
            </a:pPr>
            <a:r>
              <a:rPr lang="en-US" altLang="en-GB" b="1"/>
              <a:t>eg if A = 1 ,B = 0 AND C=1</a:t>
            </a:r>
            <a:endParaRPr lang="en-US" altLang="en-GB" b="1"/>
          </a:p>
          <a:p>
            <a:pPr marL="0" indent="0" algn="l">
              <a:buFont typeface="Arial" panose="020B0604020202020204" pitchFamily="34" charset="0"/>
              <a:buNone/>
            </a:pPr>
            <a:r>
              <a:rPr lang="en-US" altLang="en-GB" b="1"/>
              <a:t>A+(B+C) =( A+ B)+C</a:t>
            </a:r>
            <a:endParaRPr lang="en-US" altLang="en-GB" b="1"/>
          </a:p>
          <a:p>
            <a:pPr marL="0" indent="0" algn="l">
              <a:buFont typeface="Arial" panose="020B0604020202020204" pitchFamily="34" charset="0"/>
              <a:buNone/>
            </a:pPr>
            <a:r>
              <a:rPr lang="en-US" altLang="en-GB" b="1"/>
              <a:t>1+(O +1) = (1+0)+1  </a:t>
            </a:r>
            <a:endParaRPr lang="en-US" altLang="en-GB" b="1"/>
          </a:p>
          <a:p>
            <a:pPr marL="0" indent="0" algn="l">
              <a:buFont typeface="Arial" panose="020B0604020202020204" pitchFamily="34" charset="0"/>
              <a:buNone/>
            </a:pPr>
            <a:r>
              <a:rPr lang="en-US" altLang="en-GB" b="1"/>
              <a:t>NOT = 2</a:t>
            </a:r>
            <a:endParaRPr lang="en-US" altLang="en-GB" b="1"/>
          </a:p>
          <a:p>
            <a:pPr marL="0" indent="0" algn="l">
              <a:buFont typeface="Arial" panose="020B0604020202020204" pitchFamily="34" charset="0"/>
              <a:buNone/>
            </a:pPr>
            <a:r>
              <a:rPr lang="en-US" altLang="en-GB" b="1"/>
              <a:t>1      =   1</a:t>
            </a:r>
            <a:endParaRPr lang="en-US" altLang="en-GB" b="1"/>
          </a:p>
          <a:p>
            <a:pPr marL="0" indent="0" algn="l">
              <a:buFont typeface="Arial" panose="020B0604020202020204" pitchFamily="34" charset="0"/>
              <a:buNone/>
            </a:pPr>
            <a:endParaRPr lang="en-US" altLang="en-GB" b="1"/>
          </a:p>
        </p:txBody>
      </p:sp>
      <p:graphicFrame>
        <p:nvGraphicFramePr>
          <p:cNvPr id="10" name="Table 9"/>
          <p:cNvGraphicFramePr/>
          <p:nvPr>
            <p:custDataLst>
              <p:tags r:id="rId1"/>
            </p:custDataLst>
          </p:nvPr>
        </p:nvGraphicFramePr>
        <p:xfrm>
          <a:off x="987425" y="1658620"/>
          <a:ext cx="9232900" cy="1821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16450"/>
                <a:gridCol w="4616450"/>
              </a:tblGrid>
              <a:tr h="70421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sz="1800">
                          <a:sym typeface="+mn-ea"/>
                        </a:rPr>
                        <a:t>FOR MULTIPLICATION</a:t>
                      </a:r>
                      <a:endParaRPr lang="en-US" altLang="en-GB" sz="1800" b="1"/>
                    </a:p>
                    <a:p>
                      <a:pPr>
                        <a:buNone/>
                      </a:pPr>
                      <a:endParaRPr lang="en-GB" altLang="en-US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FOR ADDITION</a:t>
                      </a:r>
                      <a:endParaRPr lang="en-US" altLang="en-GB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  <a:tr h="111696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sz="4400"/>
                        <a:t> A (B C)=(A  B) C</a:t>
                      </a:r>
                      <a:endParaRPr lang="en-US" altLang="en-GB" sz="440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sz="4400"/>
                        <a:t>A+(B+C)=(A+B)+C</a:t>
                      </a:r>
                      <a:endParaRPr lang="en-US" altLang="en-GB" sz="440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1" name="Flowchart: Connector 10"/>
          <p:cNvSpPr/>
          <p:nvPr/>
        </p:nvSpPr>
        <p:spPr>
          <a:xfrm>
            <a:off x="3552190" y="2688590"/>
            <a:ext cx="161925" cy="161290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GB"/>
              <a:t>   </a:t>
            </a:r>
            <a:endParaRPr lang="en-US" altLang="en-GB"/>
          </a:p>
        </p:txBody>
      </p:sp>
      <p:sp>
        <p:nvSpPr>
          <p:cNvPr id="17" name="Flowchart: Connector 16"/>
          <p:cNvSpPr/>
          <p:nvPr/>
        </p:nvSpPr>
        <p:spPr>
          <a:xfrm flipV="1">
            <a:off x="1504950" y="2738120"/>
            <a:ext cx="144780" cy="111760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GB"/>
              <a:t> </a:t>
            </a:r>
            <a:endParaRPr lang="en-US" altLang="en-GB"/>
          </a:p>
        </p:txBody>
      </p:sp>
      <p:sp>
        <p:nvSpPr>
          <p:cNvPr id="4" name="Flowchart: Connector 3"/>
          <p:cNvSpPr/>
          <p:nvPr/>
        </p:nvSpPr>
        <p:spPr>
          <a:xfrm flipV="1">
            <a:off x="2116455" y="2688590"/>
            <a:ext cx="144780" cy="111760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GB"/>
              <a:t> </a:t>
            </a:r>
            <a:endParaRPr lang="en-US" altLang="en-GB"/>
          </a:p>
        </p:txBody>
      </p:sp>
      <p:sp>
        <p:nvSpPr>
          <p:cNvPr id="5" name="Flowchart: Connector 4"/>
          <p:cNvSpPr/>
          <p:nvPr/>
        </p:nvSpPr>
        <p:spPr>
          <a:xfrm flipV="1">
            <a:off x="4196080" y="2688590"/>
            <a:ext cx="144780" cy="111760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GB"/>
              <a:t> </a:t>
            </a:r>
            <a:endParaRPr lang="en-US" altLang="en-GB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60145"/>
          </a:xfrm>
        </p:spPr>
        <p:txBody>
          <a:bodyPr/>
          <a:p>
            <a:pPr algn="ctr"/>
            <a:r>
              <a:rPr lang="en-US" altLang="en-GB" b="1"/>
              <a:t>7.Distributive </a:t>
            </a:r>
            <a:r>
              <a:rPr lang="en-US" altLang="en-GB"/>
              <a:t> </a:t>
            </a:r>
            <a:r>
              <a:rPr lang="en-US" altLang="en-GB" sz="5400" b="1">
                <a:sym typeface="+mn-ea"/>
              </a:rPr>
              <a:t>law</a:t>
            </a:r>
            <a:endParaRPr lang="en-US" altLang="en-GB" sz="5400" b="1">
              <a:sym typeface="+mn-ea"/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838200" y="1525270"/>
            <a:ext cx="10515600" cy="4652010"/>
          </a:xfrm>
        </p:spPr>
        <p:txBody>
          <a:bodyPr>
            <a:normAutofit lnSpcReduction="20000"/>
          </a:bodyPr>
          <a:p>
            <a:pPr marL="0" indent="0" algn="l">
              <a:buFont typeface="Arial" panose="020B0604020202020204" pitchFamily="34" charset="0"/>
              <a:buNone/>
            </a:pPr>
            <a:endParaRPr lang="en-US" altLang="en-GB" sz="6600" b="1"/>
          </a:p>
          <a:p>
            <a:pPr marL="0" indent="0" algn="l">
              <a:buFont typeface="Arial" panose="020B0604020202020204" pitchFamily="34" charset="0"/>
              <a:buNone/>
            </a:pPr>
            <a:r>
              <a:rPr lang="en-US" altLang="en-GB" sz="6600" b="1"/>
              <a:t> </a:t>
            </a:r>
            <a:endParaRPr lang="en-US" altLang="en-GB" sz="6600" b="1"/>
          </a:p>
          <a:p>
            <a:pPr marL="0" indent="0" algn="l">
              <a:buFont typeface="Arial" panose="020B0604020202020204" pitchFamily="34" charset="0"/>
              <a:buNone/>
            </a:pPr>
            <a:endParaRPr lang="en-US" altLang="en-GB" b="1"/>
          </a:p>
          <a:p>
            <a:pPr marL="0" indent="0" algn="l">
              <a:buFont typeface="Arial" panose="020B0604020202020204" pitchFamily="34" charset="0"/>
              <a:buNone/>
            </a:pPr>
            <a:r>
              <a:rPr lang="en-US" altLang="en-GB" b="1"/>
              <a:t>  </a:t>
            </a:r>
            <a:endParaRPr lang="en-US" altLang="en-GB" b="1"/>
          </a:p>
        </p:txBody>
      </p:sp>
      <p:graphicFrame>
        <p:nvGraphicFramePr>
          <p:cNvPr id="10" name="Table 9"/>
          <p:cNvGraphicFramePr/>
          <p:nvPr>
            <p:custDataLst>
              <p:tags r:id="rId1"/>
            </p:custDataLst>
          </p:nvPr>
        </p:nvGraphicFramePr>
        <p:xfrm>
          <a:off x="887730" y="1658620"/>
          <a:ext cx="9332595" cy="1821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16145"/>
                <a:gridCol w="4616450"/>
              </a:tblGrid>
              <a:tr h="70421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sz="1800">
                          <a:sym typeface="+mn-ea"/>
                        </a:rPr>
                        <a:t>FOR MULTIPLICATION</a:t>
                      </a:r>
                      <a:endParaRPr lang="en-US" altLang="en-GB" sz="1800" b="1"/>
                    </a:p>
                    <a:p>
                      <a:pPr>
                        <a:buNone/>
                      </a:pPr>
                      <a:endParaRPr lang="en-GB" altLang="en-US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FOR ADDITION</a:t>
                      </a:r>
                      <a:endParaRPr lang="en-US" altLang="en-GB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  <a:tr h="111696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sz="4400"/>
                        <a:t> </a:t>
                      </a:r>
                      <a:r>
                        <a:rPr lang="en-US" altLang="en-GB" sz="3200"/>
                        <a:t>A+(B  C)=(A+B)  (A+C)</a:t>
                      </a:r>
                      <a:endParaRPr lang="en-US" altLang="en-GB" sz="320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sz="4400"/>
                        <a:t>A (B+C)=(A B)+(A  C)</a:t>
                      </a:r>
                      <a:endParaRPr lang="en-US" altLang="en-GB" sz="440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4" name="Flowchart: Connector 3"/>
          <p:cNvSpPr/>
          <p:nvPr/>
        </p:nvSpPr>
        <p:spPr>
          <a:xfrm flipV="1">
            <a:off x="1897380" y="2720340"/>
            <a:ext cx="144780" cy="111760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GB"/>
              <a:t> </a:t>
            </a:r>
            <a:endParaRPr lang="en-US" altLang="en-GB"/>
          </a:p>
        </p:txBody>
      </p:sp>
      <p:sp>
        <p:nvSpPr>
          <p:cNvPr id="5" name="Flowchart: Connector 4"/>
          <p:cNvSpPr/>
          <p:nvPr/>
        </p:nvSpPr>
        <p:spPr>
          <a:xfrm flipV="1">
            <a:off x="3549650" y="2736850"/>
            <a:ext cx="144780" cy="111760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GB"/>
              <a:t>  </a:t>
            </a:r>
            <a:endParaRPr lang="en-US" altLang="en-GB"/>
          </a:p>
        </p:txBody>
      </p:sp>
      <p:sp>
        <p:nvSpPr>
          <p:cNvPr id="7" name="Flowchart: Connector 6"/>
          <p:cNvSpPr/>
          <p:nvPr/>
        </p:nvSpPr>
        <p:spPr>
          <a:xfrm flipV="1">
            <a:off x="5990590" y="2720340"/>
            <a:ext cx="144780" cy="111760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GB"/>
              <a:t>V </a:t>
            </a:r>
            <a:endParaRPr lang="en-US" altLang="en-GB"/>
          </a:p>
        </p:txBody>
      </p:sp>
      <p:sp>
        <p:nvSpPr>
          <p:cNvPr id="12" name="Flowchart: Connector 11"/>
          <p:cNvSpPr/>
          <p:nvPr/>
        </p:nvSpPr>
        <p:spPr>
          <a:xfrm flipV="1">
            <a:off x="8107680" y="2720340"/>
            <a:ext cx="144780" cy="111760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GB"/>
              <a:t> </a:t>
            </a:r>
            <a:endParaRPr lang="en-US" altLang="en-GB"/>
          </a:p>
        </p:txBody>
      </p:sp>
      <p:sp>
        <p:nvSpPr>
          <p:cNvPr id="13" name="Flowchart: Connector 12"/>
          <p:cNvSpPr/>
          <p:nvPr/>
        </p:nvSpPr>
        <p:spPr>
          <a:xfrm flipV="1">
            <a:off x="9517380" y="2672715"/>
            <a:ext cx="144780" cy="111760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GB"/>
              <a:t> </a:t>
            </a:r>
            <a:endParaRPr lang="en-US" altLang="en-GB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pPr algn="ctr"/>
            <a:r>
              <a:rPr lang="en-US" altLang="en-GB" b="1" u="sng">
                <a:solidFill>
                  <a:schemeClr val="accent5"/>
                </a:solidFill>
              </a:rPr>
              <a:t>NUMBER FOUR</a:t>
            </a:r>
            <a:br>
              <a:rPr lang="en-US" altLang="en-GB" b="1">
                <a:solidFill>
                  <a:schemeClr val="accent5"/>
                </a:solidFill>
              </a:rPr>
            </a:br>
            <a:r>
              <a:rPr lang="en-US" altLang="en-GB"/>
              <a:t> </a:t>
            </a:r>
            <a:endParaRPr lang="en-US" alt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GB">
                <a:solidFill>
                  <a:schemeClr val="accent5"/>
                </a:solidFill>
              </a:rPr>
              <a:t> </a:t>
            </a:r>
            <a:endParaRPr lang="en-US" altLang="en-GB">
              <a:solidFill>
                <a:schemeClr val="accent5"/>
              </a:solidFill>
            </a:endParaRPr>
          </a:p>
          <a:p>
            <a:endParaRPr lang="en-US" altLang="en-GB"/>
          </a:p>
          <a:p>
            <a:endParaRPr lang="en-US" altLang="en-GB"/>
          </a:p>
          <a:p>
            <a:endParaRPr lang="en-US" altLang="en-GB"/>
          </a:p>
          <a:p>
            <a:endParaRPr lang="en-US" altLang="en-GB"/>
          </a:p>
          <a:p>
            <a:endParaRPr lang="en-US" altLang="en-GB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996950" y="1950720"/>
          <a:ext cx="9747250" cy="44430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73625"/>
                <a:gridCol w="4873625"/>
              </a:tblGrid>
              <a:tr h="51117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SYMBOL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 MEANING</a:t>
                      </a:r>
                      <a:endParaRPr lang="en-US" altLang="en-GB"/>
                    </a:p>
                  </a:txBody>
                  <a:tcPr/>
                </a:tc>
              </a:tr>
              <a:tr h="100584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sz="6000">
                          <a:latin typeface="Arial Black" panose="020B0A04020102020204" charset="0"/>
                          <a:cs typeface="Arial Black" panose="020B0A04020102020204" charset="0"/>
                          <a:sym typeface="+mn-ea"/>
                        </a:rPr>
                        <a:t>¬</a:t>
                      </a:r>
                      <a:endParaRPr lang="en-US" altLang="en-GB" sz="6000">
                        <a:latin typeface="Arial Black" panose="020B0A04020102020204" charset="0"/>
                        <a:cs typeface="Arial Black" panose="020B0A04020102020204" charset="0"/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sz="4800" b="1"/>
                        <a:t>NOT(complement)</a:t>
                      </a:r>
                      <a:endParaRPr lang="en-US" altLang="en-GB" sz="4800" b="1"/>
                    </a:p>
                  </a:txBody>
                  <a:tcPr/>
                </a:tc>
              </a:tr>
              <a:tr h="100584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sz="6000">
                          <a:latin typeface="Arial Black" panose="020B0A04020102020204" charset="0"/>
                          <a:cs typeface="Arial Black" panose="020B0A04020102020204" charset="0"/>
                          <a:sym typeface="+mn-ea"/>
                        </a:rPr>
                        <a:t>˅</a:t>
                      </a:r>
                      <a:endParaRPr lang="en-US" altLang="en-GB" sz="6000">
                        <a:latin typeface="Arial Black" panose="020B0A04020102020204" charset="0"/>
                        <a:cs typeface="Arial Black" panose="020B0A04020102020204" charset="0"/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sz="4800" b="1"/>
                        <a:t>OR (+)</a:t>
                      </a:r>
                      <a:endParaRPr lang="en-US" altLang="en-GB" sz="4800" b="1"/>
                    </a:p>
                  </a:txBody>
                  <a:tcPr/>
                </a:tc>
              </a:tr>
              <a:tr h="192024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sz="6000">
                          <a:latin typeface="Arial Black" panose="020B0A04020102020204" charset="0"/>
                          <a:cs typeface="Arial Black" panose="020B0A04020102020204" charset="0"/>
                          <a:sym typeface="+mn-ea"/>
                        </a:rPr>
                        <a:t>˄</a:t>
                      </a:r>
                      <a:endParaRPr lang="en-US" altLang="en-GB" sz="6000">
                        <a:latin typeface="Arial Black" panose="020B0A04020102020204" charset="0"/>
                        <a:cs typeface="Arial Black" panose="020B0A04020102020204" charset="0"/>
                      </a:endParaRPr>
                    </a:p>
                    <a:p>
                      <a:pPr>
                        <a:buNone/>
                      </a:pPr>
                      <a:endParaRPr lang="en-US" altLang="en-GB" sz="6000">
                        <a:latin typeface="Arial Black" panose="020B0A04020102020204" charset="0"/>
                        <a:cs typeface="Arial Black" panose="020B0A040201020202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sz="4800" b="1"/>
                        <a:t>AND ( )</a:t>
                      </a:r>
                      <a:endParaRPr lang="en-US" altLang="en-GB" sz="4800" b="1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2" name="Flowchart: Connector 11"/>
          <p:cNvSpPr/>
          <p:nvPr/>
        </p:nvSpPr>
        <p:spPr>
          <a:xfrm flipV="1">
            <a:off x="7473950" y="4869815"/>
            <a:ext cx="144780" cy="111760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GB"/>
              <a:t> </a:t>
            </a:r>
            <a:endParaRPr lang="en-US" altLang="en-GB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altLang="en-GB" b="1" u="sng"/>
              <a:t>CHEAT SHEET</a:t>
            </a:r>
            <a:endParaRPr lang="en-US" altLang="en-GB" b="1" u="sn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1640"/>
            <a:ext cx="10515600" cy="4485640"/>
          </a:xfrm>
        </p:spPr>
        <p:txBody>
          <a:bodyPr>
            <a:normAutofit fontScale="90000"/>
          </a:bodyPr>
          <a:p>
            <a:r>
              <a:rPr lang="en-US" altLang="en-GB" b="1">
                <a:solidFill>
                  <a:schemeClr val="accent5"/>
                </a:solidFill>
              </a:rPr>
              <a:t>1.The identity and null rules ( quick reduction)</a:t>
            </a:r>
            <a:endParaRPr lang="en-US" altLang="en-GB">
              <a:latin typeface="Arial Black" panose="020B0A04020102020204" charset="0"/>
              <a:cs typeface="Arial Black" panose="020B0A04020102020204" charset="0"/>
              <a:sym typeface="+mn-ea"/>
            </a:endParaRPr>
          </a:p>
          <a:p>
            <a:pPr>
              <a:buFont typeface="Wingdings" panose="05000000000000000000" charset="0"/>
              <a:buChar char="Ø"/>
            </a:pPr>
            <a:r>
              <a:rPr lang="en-US" altLang="en-GB">
                <a:latin typeface="Arial Black" panose="020B0A04020102020204" charset="0"/>
                <a:cs typeface="Arial Black" panose="020B0A04020102020204" charset="0"/>
              </a:rPr>
              <a:t>x </a:t>
            </a:r>
            <a:r>
              <a:rPr lang="en-US" altLang="en-GB">
                <a:latin typeface="Arial Black" panose="020B0A04020102020204" charset="0"/>
                <a:cs typeface="Arial Black" panose="020B0A04020102020204" charset="0"/>
                <a:sym typeface="+mn-ea"/>
              </a:rPr>
              <a:t>˄ 1 = X</a:t>
            </a:r>
            <a:endParaRPr lang="en-US" altLang="en-GB">
              <a:latin typeface="Arial Black" panose="020B0A04020102020204" charset="0"/>
              <a:cs typeface="Arial Black" panose="020B0A04020102020204" charset="0"/>
              <a:sym typeface="+mn-ea"/>
            </a:endParaRPr>
          </a:p>
          <a:p>
            <a:pPr>
              <a:buFont typeface="Wingdings" panose="05000000000000000000" charset="0"/>
              <a:buChar char="Ø"/>
            </a:pPr>
            <a:r>
              <a:rPr lang="en-US" altLang="en-GB">
                <a:latin typeface="Arial Black" panose="020B0A04020102020204" charset="0"/>
                <a:cs typeface="Arial Black" panose="020B0A04020102020204" charset="0"/>
                <a:sym typeface="+mn-ea"/>
              </a:rPr>
              <a:t>X ˅ 0 = X</a:t>
            </a:r>
            <a:endParaRPr lang="en-US" altLang="en-GB">
              <a:latin typeface="Arial Black" panose="020B0A04020102020204" charset="0"/>
              <a:cs typeface="Arial Black" panose="020B0A04020102020204" charset="0"/>
              <a:sym typeface="+mn-ea"/>
            </a:endParaRPr>
          </a:p>
          <a:p>
            <a:pPr>
              <a:buFont typeface="Wingdings" panose="05000000000000000000" charset="0"/>
              <a:buChar char="Ø"/>
            </a:pPr>
            <a:r>
              <a:rPr lang="en-US" altLang="en-GB">
                <a:latin typeface="Arial Black" panose="020B0A04020102020204" charset="0"/>
                <a:cs typeface="Arial Black" panose="020B0A04020102020204" charset="0"/>
                <a:sym typeface="+mn-ea"/>
              </a:rPr>
              <a:t>X ˄ 0 = 0</a:t>
            </a:r>
            <a:endParaRPr lang="en-US" altLang="en-GB">
              <a:latin typeface="Arial Black" panose="020B0A04020102020204" charset="0"/>
              <a:cs typeface="Arial Black" panose="020B0A04020102020204" charset="0"/>
              <a:sym typeface="+mn-ea"/>
            </a:endParaRPr>
          </a:p>
          <a:p>
            <a:pPr>
              <a:buFont typeface="Wingdings" panose="05000000000000000000" charset="0"/>
              <a:buChar char="Ø"/>
            </a:pPr>
            <a:r>
              <a:rPr lang="en-US" altLang="en-GB">
                <a:latin typeface="Arial Black" panose="020B0A04020102020204" charset="0"/>
                <a:cs typeface="Arial Black" panose="020B0A04020102020204" charset="0"/>
              </a:rPr>
              <a:t>X </a:t>
            </a:r>
            <a:r>
              <a:rPr lang="en-US" altLang="en-GB">
                <a:latin typeface="Arial Black" panose="020B0A04020102020204" charset="0"/>
                <a:cs typeface="Arial Black" panose="020B0A04020102020204" charset="0"/>
                <a:sym typeface="+mn-ea"/>
              </a:rPr>
              <a:t>˅ 1 = 1</a:t>
            </a:r>
            <a:endParaRPr lang="en-US" altLang="en-GB">
              <a:latin typeface="Arial Black" panose="020B0A04020102020204" charset="0"/>
              <a:cs typeface="Arial Black" panose="020B0A04020102020204" charset="0"/>
              <a:sym typeface="+mn-ea"/>
            </a:endParaRPr>
          </a:p>
          <a:p>
            <a:pPr/>
            <a:r>
              <a:rPr lang="en-US" altLang="en-GB" b="1">
                <a:solidFill>
                  <a:schemeClr val="accent5"/>
                </a:solidFill>
                <a:latin typeface="Arial Black" panose="020B0A04020102020204" charset="0"/>
                <a:cs typeface="Arial Black" panose="020B0A04020102020204" charset="0"/>
              </a:rPr>
              <a:t>2.T</a:t>
            </a:r>
            <a:r>
              <a:rPr lang="en-US" altLang="en-GB">
                <a:solidFill>
                  <a:schemeClr val="accent5"/>
                </a:solidFill>
                <a:latin typeface="Arial Black" panose="020B0A04020102020204" charset="0"/>
                <a:cs typeface="Arial Black" panose="020B0A04020102020204" charset="0"/>
              </a:rPr>
              <a:t>he complement rules ( canceling out)</a:t>
            </a:r>
            <a:endParaRPr lang="en-US" altLang="en-GB">
              <a:solidFill>
                <a:schemeClr val="accent5"/>
              </a:solidFill>
              <a:latin typeface="Arial Black" panose="020B0A04020102020204" charset="0"/>
              <a:cs typeface="Arial Black" panose="020B0A04020102020204" charset="0"/>
            </a:endParaRPr>
          </a:p>
          <a:p>
            <a:pPr>
              <a:buFont typeface="Wingdings" panose="05000000000000000000" charset="0"/>
              <a:buChar char="Ø"/>
            </a:pPr>
            <a:r>
              <a:rPr lang="en-US" altLang="en-GB">
                <a:latin typeface="Arial Black" panose="020B0A04020102020204" charset="0"/>
                <a:cs typeface="Arial Black" panose="020B0A04020102020204" charset="0"/>
                <a:sym typeface="+mn-ea"/>
              </a:rPr>
              <a:t>X˄¬X = 0</a:t>
            </a:r>
            <a:endParaRPr lang="en-US" altLang="en-GB">
              <a:latin typeface="Arial Black" panose="020B0A04020102020204" charset="0"/>
              <a:cs typeface="Arial Black" panose="020B0A04020102020204" charset="0"/>
              <a:sym typeface="+mn-ea"/>
            </a:endParaRPr>
          </a:p>
          <a:p>
            <a:pPr>
              <a:buFont typeface="Wingdings" panose="05000000000000000000" charset="0"/>
              <a:buChar char="Ø"/>
            </a:pPr>
            <a:r>
              <a:rPr lang="en-US" altLang="en-GB">
                <a:latin typeface="Arial Black" panose="020B0A04020102020204" charset="0"/>
                <a:cs typeface="Arial Black" panose="020B0A04020102020204" charset="0"/>
                <a:sym typeface="+mn-ea"/>
              </a:rPr>
              <a:t>X</a:t>
            </a:r>
            <a:r>
              <a:rPr lang="en-US" altLang="en-GB">
                <a:latin typeface="Arial Black" panose="020B0A04020102020204" charset="0"/>
                <a:cs typeface="Arial Black" panose="020B0A04020102020204" charset="0"/>
                <a:sym typeface="+mn-ea"/>
              </a:rPr>
              <a:t>˅¬X = 1</a:t>
            </a:r>
            <a:endParaRPr lang="en-US" altLang="en-GB">
              <a:latin typeface="Arial Black" panose="020B0A04020102020204" charset="0"/>
              <a:cs typeface="Arial Black" panose="020B0A04020102020204" charset="0"/>
              <a:sym typeface="+mn-ea"/>
            </a:endParaRPr>
          </a:p>
          <a:p>
            <a:pPr>
              <a:buFont typeface="Wingdings" panose="05000000000000000000" charset="0"/>
              <a:buChar char="Ø"/>
            </a:pPr>
            <a:r>
              <a:rPr lang="en-US" altLang="en-GB">
                <a:latin typeface="Arial Black" panose="020B0A04020102020204" charset="0"/>
                <a:cs typeface="Arial Black" panose="020B0A04020102020204" charset="0"/>
                <a:sym typeface="+mn-ea"/>
              </a:rPr>
              <a:t>¬(</a:t>
            </a:r>
            <a:r>
              <a:rPr lang="en-US" altLang="en-GB">
                <a:latin typeface="Arial Black" panose="020B0A04020102020204" charset="0"/>
                <a:cs typeface="Arial Black" panose="020B0A04020102020204" charset="0"/>
                <a:sym typeface="+mn-ea"/>
              </a:rPr>
              <a:t>¬X) = X</a:t>
            </a:r>
            <a:endParaRPr lang="en-US" altLang="en-GB">
              <a:latin typeface="Arial Black" panose="020B0A04020102020204" charset="0"/>
              <a:cs typeface="Arial Black" panose="020B0A04020102020204" charset="0"/>
              <a:sym typeface="+mn-ea"/>
            </a:endParaRPr>
          </a:p>
          <a:p>
            <a:pPr marL="0" indent="0">
              <a:buNone/>
            </a:pPr>
            <a:endParaRPr lang="en-US" altLang="en-GB">
              <a:latin typeface="Arial Black" panose="020B0A04020102020204" charset="0"/>
              <a:cs typeface="Arial Black" panose="020B0A04020102020204" charset="0"/>
              <a:sym typeface="+mn-ea"/>
            </a:endParaRPr>
          </a:p>
          <a:p>
            <a:pPr>
              <a:buFont typeface="Wingdings" panose="05000000000000000000" charset="0"/>
              <a:buChar char="Ø"/>
            </a:pPr>
            <a:endParaRPr lang="en-US" altLang="en-GB">
              <a:solidFill>
                <a:schemeClr val="accent5"/>
              </a:solidFill>
              <a:latin typeface="Arial Black" panose="020B0A04020102020204" charset="0"/>
              <a:cs typeface="Arial Black" panose="020B0A0402010202020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 b="1">
                <a:solidFill>
                  <a:schemeClr val="accent1"/>
                </a:solidFill>
              </a:rPr>
              <a:t>3.Redubundancy rules( size Reduction)</a:t>
            </a:r>
            <a:endParaRPr lang="en-US" altLang="en-GB" b="1">
              <a:solidFill>
                <a:schemeClr val="accent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buFont typeface="Wingdings" panose="05000000000000000000" charset="0"/>
              <a:buChar char="Ø"/>
            </a:pPr>
            <a:r>
              <a:rPr lang="en-US" altLang="en-GB" sz="4800" b="1"/>
              <a:t>X</a:t>
            </a:r>
            <a:r>
              <a:rPr lang="en-US" altLang="en-GB" sz="4800">
                <a:latin typeface="Arial Black" panose="020B0A04020102020204" charset="0"/>
                <a:cs typeface="Arial Black" panose="020B0A04020102020204" charset="0"/>
                <a:sym typeface="+mn-ea"/>
              </a:rPr>
              <a:t>˅</a:t>
            </a:r>
            <a:r>
              <a:rPr lang="en-US" altLang="en-GB" sz="4800" b="1">
                <a:latin typeface="Arial Black" panose="020B0A04020102020204" charset="0"/>
                <a:cs typeface="Arial Black" panose="020B0A04020102020204" charset="0"/>
                <a:sym typeface="+mn-ea"/>
              </a:rPr>
              <a:t>X =X</a:t>
            </a:r>
            <a:endParaRPr lang="en-US" altLang="en-GB" sz="4800" b="1">
              <a:latin typeface="Arial Black" panose="020B0A04020102020204" charset="0"/>
              <a:cs typeface="Arial Black" panose="020B0A04020102020204" charset="0"/>
              <a:sym typeface="+mn-ea"/>
            </a:endParaRPr>
          </a:p>
          <a:p>
            <a:pPr>
              <a:buFont typeface="Wingdings" panose="05000000000000000000" charset="0"/>
              <a:buChar char="Ø"/>
            </a:pPr>
            <a:r>
              <a:rPr lang="en-US" altLang="en-GB" sz="4800" b="1"/>
              <a:t>X</a:t>
            </a:r>
            <a:r>
              <a:rPr lang="en-US" altLang="en-GB" sz="4800">
                <a:latin typeface="Arial Black" panose="020B0A04020102020204" charset="0"/>
                <a:cs typeface="Arial Black" panose="020B0A04020102020204" charset="0"/>
                <a:sym typeface="+mn-ea"/>
              </a:rPr>
              <a:t>˅</a:t>
            </a:r>
            <a:r>
              <a:rPr lang="en-US" altLang="en-GB" sz="4800" b="1"/>
              <a:t>X =X</a:t>
            </a:r>
            <a:endParaRPr lang="en-US" altLang="en-GB" sz="4800" b="1"/>
          </a:p>
          <a:p>
            <a:pPr>
              <a:buFont typeface="Wingdings" panose="05000000000000000000" charset="0"/>
              <a:buChar char="Ø"/>
            </a:pPr>
            <a:r>
              <a:rPr lang="en-US" altLang="en-GB" sz="4800" b="1"/>
              <a:t>X</a:t>
            </a:r>
            <a:r>
              <a:rPr lang="en-US" altLang="en-GB" sz="4800">
                <a:latin typeface="Arial Black" panose="020B0A04020102020204" charset="0"/>
                <a:cs typeface="Arial Black" panose="020B0A04020102020204" charset="0"/>
                <a:sym typeface="+mn-ea"/>
              </a:rPr>
              <a:t>˅</a:t>
            </a:r>
            <a:r>
              <a:rPr lang="en-US" altLang="en-GB" sz="4800" b="1"/>
              <a:t>(X</a:t>
            </a:r>
            <a:r>
              <a:rPr lang="en-US" altLang="en-GB" sz="4800">
                <a:latin typeface="Arial Black" panose="020B0A04020102020204" charset="0"/>
                <a:cs typeface="Arial Black" panose="020B0A04020102020204" charset="0"/>
                <a:sym typeface="+mn-ea"/>
              </a:rPr>
              <a:t>˄</a:t>
            </a:r>
            <a:r>
              <a:rPr lang="en-US" altLang="en-GB" sz="4800" b="1"/>
              <a:t>Y) =X(absorption)</a:t>
            </a:r>
            <a:endParaRPr lang="en-US" altLang="en-GB" sz="4800" b="1"/>
          </a:p>
          <a:p>
            <a:pPr>
              <a:buFont typeface="Wingdings" panose="05000000000000000000" charset="0"/>
              <a:buChar char="Ø"/>
            </a:pPr>
            <a:r>
              <a:rPr lang="en-US" altLang="en-GB" sz="4800" b="1"/>
              <a:t>X</a:t>
            </a:r>
            <a:r>
              <a:rPr lang="en-US" altLang="en-GB" sz="4800">
                <a:latin typeface="Arial Black" panose="020B0A04020102020204" charset="0"/>
                <a:cs typeface="Arial Black" panose="020B0A04020102020204" charset="0"/>
                <a:sym typeface="+mn-ea"/>
              </a:rPr>
              <a:t>˄</a:t>
            </a:r>
            <a:r>
              <a:rPr lang="en-US" altLang="en-GB" sz="4800" b="1"/>
              <a:t>(XY) =X(absorption)</a:t>
            </a:r>
            <a:endParaRPr lang="en-US" altLang="en-GB" sz="4800" b="1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altLang="en-GB" b="1">
                <a:solidFill>
                  <a:schemeClr val="accent1"/>
                </a:solidFill>
              </a:rPr>
              <a:t>Demorgan’s Rules(bar breaking)</a:t>
            </a:r>
            <a:endParaRPr lang="en-US" altLang="en-GB" b="1">
              <a:solidFill>
                <a:schemeClr val="accent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buFont typeface="Wingdings" panose="05000000000000000000" charset="0"/>
              <a:buChar char="Ø"/>
            </a:pPr>
            <a:r>
              <a:rPr lang="en-US" altLang="en-GB" sz="7200" b="1">
                <a:latin typeface="Arial Black" panose="020B0A04020102020204" charset="0"/>
                <a:cs typeface="Arial Black" panose="020B0A04020102020204" charset="0"/>
                <a:sym typeface="+mn-ea"/>
              </a:rPr>
              <a:t>¬</a:t>
            </a:r>
            <a:r>
              <a:rPr lang="en-US" altLang="en-GB" sz="7200" b="1"/>
              <a:t>(X</a:t>
            </a:r>
            <a:r>
              <a:rPr lang="en-US" altLang="en-GB" sz="7200" b="1">
                <a:latin typeface="Arial Black" panose="020B0A04020102020204" charset="0"/>
                <a:cs typeface="Arial Black" panose="020B0A04020102020204" charset="0"/>
                <a:sym typeface="+mn-ea"/>
              </a:rPr>
              <a:t>˄</a:t>
            </a:r>
            <a:r>
              <a:rPr lang="en-US" altLang="en-GB" sz="7200" b="1"/>
              <a:t>Y) = </a:t>
            </a:r>
            <a:r>
              <a:rPr lang="en-US" altLang="en-GB" sz="7200" b="1">
                <a:latin typeface="Arial Black" panose="020B0A04020102020204" charset="0"/>
                <a:cs typeface="Arial Black" panose="020B0A04020102020204" charset="0"/>
                <a:sym typeface="+mn-ea"/>
              </a:rPr>
              <a:t>¬</a:t>
            </a:r>
            <a:r>
              <a:rPr lang="en-US" altLang="en-GB" sz="7200" b="1"/>
              <a:t>X</a:t>
            </a:r>
            <a:r>
              <a:rPr lang="en-US" altLang="en-GB" sz="7200" b="1">
                <a:latin typeface="Arial Black" panose="020B0A04020102020204" charset="0"/>
                <a:cs typeface="Arial Black" panose="020B0A04020102020204" charset="0"/>
                <a:sym typeface="+mn-ea"/>
              </a:rPr>
              <a:t>˅¬</a:t>
            </a:r>
            <a:r>
              <a:rPr lang="en-US" altLang="en-GB" sz="7200" b="1"/>
              <a:t>Y</a:t>
            </a:r>
            <a:endParaRPr lang="en-US" altLang="en-GB" sz="7200" b="1"/>
          </a:p>
          <a:p>
            <a:pPr>
              <a:buFont typeface="Wingdings" panose="05000000000000000000" charset="0"/>
              <a:buChar char="Ø"/>
            </a:pPr>
            <a:r>
              <a:rPr lang="en-US" altLang="en-GB" sz="7200" b="1">
                <a:latin typeface="Arial Black" panose="020B0A04020102020204" charset="0"/>
                <a:cs typeface="Arial Black" panose="020B0A04020102020204" charset="0"/>
                <a:sym typeface="+mn-ea"/>
              </a:rPr>
              <a:t>¬</a:t>
            </a:r>
            <a:r>
              <a:rPr lang="en-US" altLang="en-GB" sz="7200" b="1"/>
              <a:t>(X</a:t>
            </a:r>
            <a:r>
              <a:rPr lang="en-US" altLang="en-GB" sz="7200" b="1">
                <a:latin typeface="Arial Black" panose="020B0A04020102020204" charset="0"/>
                <a:cs typeface="Arial Black" panose="020B0A04020102020204" charset="0"/>
                <a:sym typeface="+mn-ea"/>
              </a:rPr>
              <a:t>˅</a:t>
            </a:r>
            <a:r>
              <a:rPr lang="en-US" altLang="en-GB" sz="7200" b="1"/>
              <a:t>Y) =</a:t>
            </a:r>
            <a:r>
              <a:rPr lang="en-US" altLang="en-GB" sz="7200" b="1">
                <a:latin typeface="Arial Black" panose="020B0A04020102020204" charset="0"/>
                <a:cs typeface="Arial Black" panose="020B0A04020102020204" charset="0"/>
                <a:sym typeface="+mn-ea"/>
              </a:rPr>
              <a:t>¬</a:t>
            </a:r>
            <a:r>
              <a:rPr lang="en-US" altLang="en-GB" sz="7200" b="1"/>
              <a:t>X</a:t>
            </a:r>
            <a:r>
              <a:rPr lang="en-US" altLang="en-GB" sz="7200" b="1">
                <a:latin typeface="Arial Black" panose="020B0A04020102020204" charset="0"/>
                <a:cs typeface="Arial Black" panose="020B0A04020102020204" charset="0"/>
                <a:sym typeface="+mn-ea"/>
              </a:rPr>
              <a:t>˄¬</a:t>
            </a:r>
            <a:r>
              <a:rPr lang="en-US" altLang="en-GB" sz="7200" b="1"/>
              <a:t>Y</a:t>
            </a:r>
            <a:endParaRPr lang="en-US" altLang="en-GB" sz="7200" b="1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pPr algn="ctr"/>
            <a:r>
              <a:rPr lang="en-US" altLang="en-GB" b="1">
                <a:solidFill>
                  <a:schemeClr val="accent1"/>
                </a:solidFill>
              </a:rPr>
              <a:t>NUMBER FIVE</a:t>
            </a:r>
            <a:br>
              <a:rPr lang="en-US" altLang="en-GB" b="1"/>
            </a:br>
            <a:r>
              <a:rPr lang="en-US" altLang="en-GB" b="1"/>
              <a:t>TRUTH TABLES</a:t>
            </a:r>
            <a:endParaRPr lang="en-US" altLang="en-GB" b="1"/>
          </a:p>
        </p:txBody>
      </p:sp>
      <p:graphicFrame>
        <p:nvGraphicFramePr>
          <p:cNvPr id="4" name="Content Placeholder 3"/>
          <p:cNvGraphicFramePr/>
          <p:nvPr>
            <p:ph idx="1"/>
            <p:custDataLst>
              <p:tags r:id="rId1"/>
            </p:custDataLst>
          </p:nvPr>
        </p:nvGraphicFramePr>
        <p:xfrm>
          <a:off x="838200" y="1825625"/>
          <a:ext cx="10515600" cy="4301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0445"/>
                <a:gridCol w="859155"/>
                <a:gridCol w="760095"/>
                <a:gridCol w="976630"/>
                <a:gridCol w="1831340"/>
                <a:gridCol w="1063625"/>
                <a:gridCol w="1086485"/>
                <a:gridCol w="2917826"/>
              </a:tblGrid>
              <a:tr h="716915">
                <a:tc gridSpan="8"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GB"/>
                        <a:t>TABLE .1 FOR DISTRIBUTIVE LAW(</a:t>
                      </a:r>
                      <a:r>
                        <a:rPr lang="en-US" altLang="en-GB" sz="1800">
                          <a:sym typeface="+mn-ea"/>
                        </a:rPr>
                        <a:t>A+(B   C)=(A+B)  (A+C)</a:t>
                      </a:r>
                      <a:endParaRPr lang="en-US" altLang="en-GB" sz="1800"/>
                    </a:p>
                    <a:p>
                      <a:pPr algn="ctr">
                        <a:buNone/>
                      </a:pPr>
                      <a:endParaRPr lang="en-US" altLang="en-GB"/>
                    </a:p>
                  </a:txBody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71691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sz="4000" b="1"/>
                        <a:t>A</a:t>
                      </a:r>
                      <a:endParaRPr lang="en-US" altLang="en-GB" sz="4000" b="1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sz="4000" b="1"/>
                        <a:t>B</a:t>
                      </a:r>
                      <a:endParaRPr lang="en-US" altLang="en-GB" sz="4000" b="1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sz="4000" b="1"/>
                        <a:t>C</a:t>
                      </a:r>
                      <a:endParaRPr lang="en-US" altLang="en-GB" sz="4000" b="1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sz="4000" b="1"/>
                        <a:t>B  C</a:t>
                      </a:r>
                      <a:endParaRPr lang="en-US" altLang="en-GB" sz="4000" b="1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sz="4000" b="1"/>
                        <a:t>A+(B  C)</a:t>
                      </a:r>
                      <a:endParaRPr lang="en-US" altLang="en-GB" sz="4000" b="1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sz="4000" b="1"/>
                        <a:t>A+B</a:t>
                      </a:r>
                      <a:endParaRPr lang="en-US" altLang="en-GB" sz="4000" b="1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sz="4000" b="1"/>
                        <a:t>A+C</a:t>
                      </a:r>
                      <a:endParaRPr lang="en-US" altLang="en-GB" sz="4000" b="1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sz="4000" b="1"/>
                        <a:t>(A+B)  (A+c)</a:t>
                      </a:r>
                      <a:endParaRPr lang="en-US" altLang="en-GB" sz="4000" b="1"/>
                    </a:p>
                  </a:txBody>
                  <a:tcPr/>
                </a:tc>
              </a:tr>
              <a:tr h="71691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0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0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1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0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o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0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1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0</a:t>
                      </a:r>
                      <a:endParaRPr lang="en-US" altLang="en-GB"/>
                    </a:p>
                  </a:txBody>
                  <a:tcPr/>
                </a:tc>
              </a:tr>
              <a:tr h="71691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0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1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O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0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0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1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0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0</a:t>
                      </a:r>
                      <a:endParaRPr lang="en-US" altLang="en-GB"/>
                    </a:p>
                  </a:txBody>
                  <a:tcPr/>
                </a:tc>
              </a:tr>
              <a:tr h="71691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1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0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1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0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1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1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1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1</a:t>
                      </a:r>
                      <a:endParaRPr lang="en-US" altLang="en-GB"/>
                    </a:p>
                  </a:txBody>
                  <a:tcPr/>
                </a:tc>
              </a:tr>
              <a:tr h="71691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1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1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0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O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1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1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1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1</a:t>
                      </a:r>
                      <a:endParaRPr lang="en-US" altLang="en-GB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7" name="Flowchart: Connector 16"/>
          <p:cNvSpPr/>
          <p:nvPr/>
        </p:nvSpPr>
        <p:spPr>
          <a:xfrm flipV="1">
            <a:off x="3891915" y="2840355"/>
            <a:ext cx="144780" cy="111760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GB"/>
              <a:t> </a:t>
            </a:r>
            <a:endParaRPr lang="en-US" altLang="en-GB"/>
          </a:p>
        </p:txBody>
      </p:sp>
      <p:sp>
        <p:nvSpPr>
          <p:cNvPr id="5" name="Flowchart: Connector 4"/>
          <p:cNvSpPr/>
          <p:nvPr/>
        </p:nvSpPr>
        <p:spPr>
          <a:xfrm flipV="1">
            <a:off x="9699625" y="2840355"/>
            <a:ext cx="144780" cy="111760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GB"/>
              <a:t> </a:t>
            </a:r>
            <a:endParaRPr lang="en-US" altLang="en-GB"/>
          </a:p>
        </p:txBody>
      </p:sp>
      <p:sp>
        <p:nvSpPr>
          <p:cNvPr id="7" name="Flowchart: Connector 6"/>
          <p:cNvSpPr/>
          <p:nvPr/>
        </p:nvSpPr>
        <p:spPr>
          <a:xfrm flipV="1">
            <a:off x="7148195" y="1967230"/>
            <a:ext cx="79375" cy="762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GB"/>
              <a:t> </a:t>
            </a:r>
            <a:endParaRPr lang="en-US" altLang="en-GB"/>
          </a:p>
        </p:txBody>
      </p:sp>
      <p:sp>
        <p:nvSpPr>
          <p:cNvPr id="8" name="Flowchart: Connector 7"/>
          <p:cNvSpPr/>
          <p:nvPr/>
        </p:nvSpPr>
        <p:spPr>
          <a:xfrm flipV="1">
            <a:off x="8105140" y="1967230"/>
            <a:ext cx="76200" cy="76835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GB"/>
              <a:t> </a:t>
            </a:r>
            <a:endParaRPr lang="en-US" altLang="en-GB"/>
          </a:p>
        </p:txBody>
      </p:sp>
      <p:sp>
        <p:nvSpPr>
          <p:cNvPr id="9" name="Flowchart: Connector 8"/>
          <p:cNvSpPr/>
          <p:nvPr/>
        </p:nvSpPr>
        <p:spPr>
          <a:xfrm>
            <a:off x="5637530" y="2875915"/>
            <a:ext cx="142240" cy="76200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pPr algn="ctr"/>
            <a:r>
              <a:rPr lang="en-US" altLang="en-GB" b="1">
                <a:solidFill>
                  <a:schemeClr val="accent1"/>
                </a:solidFill>
              </a:rPr>
              <a:t>TABLE 2</a:t>
            </a:r>
            <a:br>
              <a:rPr lang="en-US" altLang="en-GB"/>
            </a:br>
            <a:r>
              <a:rPr lang="en-US" altLang="en-GB" b="1">
                <a:sym typeface="+mn-ea"/>
              </a:rPr>
              <a:t>X</a:t>
            </a:r>
            <a:r>
              <a:rPr lang="en-US" altLang="en-GB">
                <a:latin typeface="Arial Black" panose="020B0A04020102020204" charset="0"/>
                <a:cs typeface="Arial Black" panose="020B0A04020102020204" charset="0"/>
                <a:sym typeface="+mn-ea"/>
              </a:rPr>
              <a:t>˅</a:t>
            </a:r>
            <a:r>
              <a:rPr lang="en-US" altLang="en-GB" b="1">
                <a:sym typeface="+mn-ea"/>
              </a:rPr>
              <a:t>(X</a:t>
            </a:r>
            <a:r>
              <a:rPr lang="en-US" altLang="en-GB">
                <a:latin typeface="Arial Black" panose="020B0A04020102020204" charset="0"/>
                <a:cs typeface="Arial Black" panose="020B0A04020102020204" charset="0"/>
                <a:sym typeface="+mn-ea"/>
              </a:rPr>
              <a:t>˄</a:t>
            </a:r>
            <a:r>
              <a:rPr lang="en-US" altLang="en-GB" b="1">
                <a:sym typeface="+mn-ea"/>
              </a:rPr>
              <a:t>Y) =X(absorption) note </a:t>
            </a:r>
            <a:r>
              <a:rPr lang="en-US" altLang="en-GB" sz="4000" b="1">
                <a:solidFill>
                  <a:schemeClr val="accent2"/>
                </a:solidFill>
                <a:sym typeface="+mn-ea"/>
              </a:rPr>
              <a:t>V</a:t>
            </a:r>
            <a:r>
              <a:rPr lang="en-US" altLang="en-GB">
                <a:latin typeface="Arial Black" panose="020B0A04020102020204" charset="0"/>
                <a:cs typeface="Arial Black" panose="020B0A04020102020204" charset="0"/>
                <a:sym typeface="+mn-ea"/>
              </a:rPr>
              <a:t> </a:t>
            </a:r>
            <a:r>
              <a:rPr lang="en-US" altLang="en-GB">
                <a:solidFill>
                  <a:schemeClr val="accent1"/>
                </a:solidFill>
                <a:latin typeface="Arial Black" panose="020B0A04020102020204" charset="0"/>
                <a:cs typeface="Arial Black" panose="020B0A04020102020204" charset="0"/>
                <a:sym typeface="+mn-ea"/>
              </a:rPr>
              <a:t>for</a:t>
            </a:r>
            <a:r>
              <a:rPr lang="en-US" altLang="en-GB">
                <a:latin typeface="Arial Black" panose="020B0A04020102020204" charset="0"/>
                <a:cs typeface="Arial Black" panose="020B0A04020102020204" charset="0"/>
                <a:sym typeface="+mn-ea"/>
              </a:rPr>
              <a:t> </a:t>
            </a:r>
            <a:r>
              <a:rPr lang="en-US" altLang="en-GB">
                <a:solidFill>
                  <a:schemeClr val="accent6"/>
                </a:solidFill>
                <a:latin typeface="Arial Black" panose="020B0A04020102020204" charset="0"/>
                <a:cs typeface="Arial Black" panose="020B0A04020102020204" charset="0"/>
                <a:sym typeface="+mn-ea"/>
              </a:rPr>
              <a:t>+</a:t>
            </a:r>
            <a:endParaRPr lang="en-US" altLang="en-GB">
              <a:solidFill>
                <a:schemeClr val="accent6"/>
              </a:solidFill>
              <a:latin typeface="Arial Black" panose="020B0A04020102020204" charset="0"/>
              <a:cs typeface="Arial Black" panose="020B0A04020102020204" charset="0"/>
              <a:sym typeface="+mn-ea"/>
            </a:endParaRPr>
          </a:p>
        </p:txBody>
      </p:sp>
      <p:graphicFrame>
        <p:nvGraphicFramePr>
          <p:cNvPr id="6" name="Content Placeholder 5"/>
          <p:cNvGraphicFramePr/>
          <p:nvPr>
            <p:ph idx="1"/>
            <p:custDataLst>
              <p:tags r:id="rId1"/>
            </p:custDataLst>
          </p:nvPr>
        </p:nvGraphicFramePr>
        <p:xfrm>
          <a:off x="838200" y="1825625"/>
          <a:ext cx="10515600" cy="431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8636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sz="3600" b="0"/>
                        <a:t>X</a:t>
                      </a:r>
                      <a:endParaRPr lang="en-US" altLang="en-GB" sz="3600" b="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sz="3600" b="0"/>
                        <a:t>Y</a:t>
                      </a:r>
                      <a:endParaRPr lang="en-US" altLang="en-GB" sz="3600" b="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sz="3600" b="1"/>
                        <a:t>(X</a:t>
                      </a:r>
                      <a:r>
                        <a:rPr lang="en-US" altLang="en-GB" sz="3600" b="1">
                          <a:latin typeface="Arial Black" panose="020B0A04020102020204" charset="0"/>
                          <a:cs typeface="Arial Black" panose="020B0A04020102020204" charset="0"/>
                          <a:sym typeface="+mn-ea"/>
                        </a:rPr>
                        <a:t>˄Y)</a:t>
                      </a:r>
                      <a:endParaRPr lang="en-US" altLang="en-GB" sz="3600" b="1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sz="3600">
                          <a:sym typeface="+mn-ea"/>
                        </a:rPr>
                        <a:t>X</a:t>
                      </a:r>
                      <a:r>
                        <a:rPr lang="en-US" altLang="en-GB" sz="3600">
                          <a:latin typeface="Arial Black" panose="020B0A04020102020204" charset="0"/>
                          <a:cs typeface="Arial Black" panose="020B0A04020102020204" charset="0"/>
                          <a:sym typeface="+mn-ea"/>
                        </a:rPr>
                        <a:t>˅</a:t>
                      </a:r>
                      <a:r>
                        <a:rPr lang="en-US" altLang="en-GB" sz="3600">
                          <a:sym typeface="+mn-ea"/>
                        </a:rPr>
                        <a:t>(X</a:t>
                      </a:r>
                      <a:r>
                        <a:rPr lang="en-US" altLang="en-GB" sz="3600">
                          <a:latin typeface="Arial Black" panose="020B0A04020102020204" charset="0"/>
                          <a:cs typeface="Arial Black" panose="020B0A04020102020204" charset="0"/>
                          <a:sym typeface="+mn-ea"/>
                        </a:rPr>
                        <a:t>˄</a:t>
                      </a:r>
                      <a:r>
                        <a:rPr lang="en-US" altLang="en-GB" sz="3600">
                          <a:sym typeface="+mn-ea"/>
                        </a:rPr>
                        <a:t>Y)</a:t>
                      </a:r>
                      <a:endParaRPr lang="en-GB" altLang="en-US" sz="3600" b="0"/>
                    </a:p>
                  </a:txBody>
                  <a:tcPr/>
                </a:tc>
              </a:tr>
              <a:tr h="8636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0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1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0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0</a:t>
                      </a:r>
                      <a:endParaRPr lang="en-US" altLang="en-GB"/>
                    </a:p>
                  </a:txBody>
                  <a:tcPr/>
                </a:tc>
              </a:tr>
              <a:tr h="8636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1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0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0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1</a:t>
                      </a:r>
                      <a:endParaRPr lang="en-US" altLang="en-GB"/>
                    </a:p>
                  </a:txBody>
                  <a:tcPr/>
                </a:tc>
              </a:tr>
              <a:tr h="8636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1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1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1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1</a:t>
                      </a:r>
                      <a:endParaRPr lang="en-US" altLang="en-GB"/>
                    </a:p>
                  </a:txBody>
                  <a:tcPr/>
                </a:tc>
              </a:tr>
              <a:tr h="8636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0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0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0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0</a:t>
                      </a:r>
                      <a:endParaRPr lang="en-US" altLang="en-GB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707*109"/>
  <p:tag name="TABLE_ENDDRAG_RECT" val="108*191*707*109"/>
</p:tagLst>
</file>

<file path=ppt/tags/tag2.xml><?xml version="1.0" encoding="utf-8"?>
<p:tagLst xmlns:p="http://schemas.openxmlformats.org/presentationml/2006/main">
  <p:tag name="TABLE_ENDDRAG_ORIGIN_RECT" val="707*109"/>
  <p:tag name="TABLE_ENDDRAG_RECT" val="108*191*707*109"/>
</p:tagLst>
</file>

<file path=ppt/tags/tag3.xml><?xml version="1.0" encoding="utf-8"?>
<p:tagLst xmlns:p="http://schemas.openxmlformats.org/presentationml/2006/main">
  <p:tag name="TABLE_ENDDRAG_ORIGIN_RECT" val="726*143"/>
  <p:tag name="TABLE_ENDDRAG_RECT" val="77*130*726*143"/>
</p:tagLst>
</file>

<file path=ppt/tags/tag4.xml><?xml version="1.0" encoding="utf-8"?>
<p:tagLst xmlns:p="http://schemas.openxmlformats.org/presentationml/2006/main">
  <p:tag name="TABLE_ENDDRAG_ORIGIN_RECT" val="707*109"/>
  <p:tag name="TABLE_ENDDRAG_RECT" val="108*191*707*109"/>
</p:tagLst>
</file>

<file path=ppt/tags/tag5.xml><?xml version="1.0" encoding="utf-8"?>
<p:tagLst xmlns:p="http://schemas.openxmlformats.org/presentationml/2006/main">
  <p:tag name="TABLE_ENDDRAG_ORIGIN_RECT" val="726*143"/>
  <p:tag name="TABLE_ENDDRAG_RECT" val="77*130*726*143"/>
</p:tagLst>
</file>

<file path=ppt/tags/tag6.xml><?xml version="1.0" encoding="utf-8"?>
<p:tagLst xmlns:p="http://schemas.openxmlformats.org/presentationml/2006/main">
  <p:tag name="TABLE_ENDDRAG_ORIGIN_RECT" val="726*143"/>
  <p:tag name="TABLE_ENDDRAG_RECT" val="77*130*726*143"/>
</p:tagLst>
</file>

<file path=ppt/tags/tag7.xml><?xml version="1.0" encoding="utf-8"?>
<p:tagLst xmlns:p="http://schemas.openxmlformats.org/presentationml/2006/main">
  <p:tag name="TABLE_ENDDRAG_ORIGIN_RECT" val="726*143"/>
  <p:tag name="TABLE_ENDDRAG_RECT" val="77*130*726*143"/>
</p:tagLst>
</file>

<file path=ppt/tags/tag8.xml><?xml version="1.0" encoding="utf-8"?>
<p:tagLst xmlns:p="http://schemas.openxmlformats.org/presentationml/2006/main">
  <p:tag name="TABLE_ENDDRAG_ORIGIN_RECT" val="767*349"/>
  <p:tag name="TABLE_ENDDRAG_RECT" val="78*153*767*349"/>
</p:tagLst>
</file>

<file path=ppt/tags/tag9.xml><?xml version="1.0" encoding="utf-8"?>
<p:tagLst xmlns:p="http://schemas.openxmlformats.org/presentationml/2006/main">
  <p:tag name="TABLE_ENDDRAG_ORIGIN_RECT" val="828*338"/>
  <p:tag name="TABLE_ENDDRAG_RECT" val="66*143*828*338"/>
</p:tagLst>
</file>

<file path=ppt/tags/tag10.xml><?xml version="1.0" encoding="utf-8"?>
<p:tagLst xmlns:p="http://schemas.openxmlformats.org/presentationml/2006/main">
  <p:tag name="TABLE_ENDDRAG_ORIGIN_RECT" val="828*340"/>
  <p:tag name="TABLE_ENDDRAG_RECT" val="66*143*828*340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3008</Words>
  <Application>WPS Presentation</Application>
  <PresentationFormat>Widescreen</PresentationFormat>
  <Paragraphs>463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0" baseType="lpstr">
      <vt:lpstr>Arial</vt:lpstr>
      <vt:lpstr>SimSun</vt:lpstr>
      <vt:lpstr>Wingdings</vt:lpstr>
      <vt:lpstr>Arial Unicode MS</vt:lpstr>
      <vt:lpstr>Calibri Light</vt:lpstr>
      <vt:lpstr>Calibri</vt:lpstr>
      <vt:lpstr>Microsoft YaHei</vt:lpstr>
      <vt:lpstr>Wingdings</vt:lpstr>
      <vt:lpstr>Arial Black</vt:lpstr>
      <vt:lpstr>Office Theme</vt:lpstr>
      <vt:lpstr>PowerPoint 演示文稿</vt:lpstr>
      <vt:lpstr>PowerPoint 演示文稿</vt:lpstr>
      <vt:lpstr>PowerPoint 演示文稿</vt:lpstr>
      <vt:lpstr>PowerPoint 演示文稿</vt:lpstr>
      <vt:lpstr>1.Identity law</vt:lpstr>
      <vt:lpstr>1.Null law</vt:lpstr>
      <vt:lpstr>1.Null law</vt:lpstr>
      <vt:lpstr>3.Idempotent law</vt:lpstr>
      <vt:lpstr>PowerPoint 演示文稿</vt:lpstr>
      <vt:lpstr>PowerPoint 演示文稿</vt:lpstr>
      <vt:lpstr>PowerPoint 演示文稿</vt:lpstr>
      <vt:lpstr>PowerPoint 演示文稿</vt:lpstr>
      <vt:lpstr>5.Commutative law</vt:lpstr>
      <vt:lpstr>6.Associative law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THINKPAD</dc:creator>
  <cp:lastModifiedBy>THINKPAD</cp:lastModifiedBy>
  <cp:revision>3</cp:revision>
  <dcterms:created xsi:type="dcterms:W3CDTF">2025-07-23T00:59:00Z</dcterms:created>
  <dcterms:modified xsi:type="dcterms:W3CDTF">2026-08-22T16:45:29Z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EB331E2A747E41F285F93595524E0F98_11</vt:lpwstr>
  </property>
  <property fmtid="{D5CDD505-2E9C-101B-9397-08002B2CF9AE}" pid="3" name="KSOProductBuildVer">
    <vt:lpwstr>2057-12.2.0.23202</vt:lpwstr>
  </property>
</Properties>
</file>