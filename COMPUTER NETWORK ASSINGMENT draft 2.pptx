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3" r:id="rId1"/>
  </p:sldMasterIdLst>
  <p:sldIdLst>
    <p:sldId id="259" r:id="rId2"/>
    <p:sldId id="260" r:id="rId3"/>
    <p:sldId id="261" r:id="rId4"/>
    <p:sldId id="262" r:id="rId5"/>
    <p:sldId id="263" r:id="rId6"/>
    <p:sldId id="264" r:id="rId7"/>
    <p:sldId id="265" r:id="rId8"/>
    <p:sldId id="266"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9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476FA66-9C2B-4C89-AF60-397CDD3F750F}"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71142-EF77-4ACE-B553-43BAC50633D5}" type="slidenum">
              <a:rPr lang="en-US" smtClean="0"/>
              <a:t>‹#›</a:t>
            </a:fld>
            <a:endParaRPr lang="en-US"/>
          </a:p>
        </p:txBody>
      </p:sp>
    </p:spTree>
    <p:extLst>
      <p:ext uri="{BB962C8B-B14F-4D97-AF65-F5344CB8AC3E}">
        <p14:creationId xmlns:p14="http://schemas.microsoft.com/office/powerpoint/2010/main" val="2757410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76FA66-9C2B-4C89-AF60-397CDD3F750F}"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71142-EF77-4ACE-B553-43BAC50633D5}" type="slidenum">
              <a:rPr lang="en-US" smtClean="0"/>
              <a:t>‹#›</a:t>
            </a:fld>
            <a:endParaRPr lang="en-US"/>
          </a:p>
        </p:txBody>
      </p:sp>
    </p:spTree>
    <p:extLst>
      <p:ext uri="{BB962C8B-B14F-4D97-AF65-F5344CB8AC3E}">
        <p14:creationId xmlns:p14="http://schemas.microsoft.com/office/powerpoint/2010/main" val="2946484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476FA66-9C2B-4C89-AF60-397CDD3F750F}"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71142-EF77-4ACE-B553-43BAC50633D5}" type="slidenum">
              <a:rPr lang="en-US" smtClean="0"/>
              <a:t>‹#›</a:t>
            </a:fld>
            <a:endParaRPr lang="en-US"/>
          </a:p>
        </p:txBody>
      </p:sp>
    </p:spTree>
    <p:extLst>
      <p:ext uri="{BB962C8B-B14F-4D97-AF65-F5344CB8AC3E}">
        <p14:creationId xmlns:p14="http://schemas.microsoft.com/office/powerpoint/2010/main" val="4022706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476FA66-9C2B-4C89-AF60-397CDD3F750F}"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extLst>
      <p:ext uri="{BB962C8B-B14F-4D97-AF65-F5344CB8AC3E}">
        <p14:creationId xmlns:p14="http://schemas.microsoft.com/office/powerpoint/2010/main" val="3132788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476FA66-9C2B-4C89-AF60-397CDD3F750F}" type="datetimeFigureOut">
              <a:rPr lang="en-US" smtClean="0"/>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571142-EF77-4ACE-B553-43BAC50633D5}" type="slidenum">
              <a:rPr lang="en-US" smtClean="0"/>
              <a:t>‹#›</a:t>
            </a:fld>
            <a:endParaRPr lang="en-US"/>
          </a:p>
        </p:txBody>
      </p:sp>
    </p:spTree>
    <p:extLst>
      <p:ext uri="{BB962C8B-B14F-4D97-AF65-F5344CB8AC3E}">
        <p14:creationId xmlns:p14="http://schemas.microsoft.com/office/powerpoint/2010/main" val="344628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476FA66-9C2B-4C89-AF60-397CDD3F750F}" type="datetimeFigureOut">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571142-EF77-4ACE-B553-43BAC50633D5}" type="slidenum">
              <a:rPr lang="en-US" smtClean="0"/>
              <a:t>‹#›</a:t>
            </a:fld>
            <a:endParaRPr lang="en-US"/>
          </a:p>
        </p:txBody>
      </p:sp>
    </p:spTree>
    <p:extLst>
      <p:ext uri="{BB962C8B-B14F-4D97-AF65-F5344CB8AC3E}">
        <p14:creationId xmlns:p14="http://schemas.microsoft.com/office/powerpoint/2010/main" val="2501647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0476FA66-9C2B-4C89-AF60-397CDD3F750F}" type="datetimeFigureOut">
              <a:rPr lang="en-US" smtClean="0"/>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571142-EF77-4ACE-B553-43BAC50633D5}" type="slidenum">
              <a:rPr lang="en-US" smtClean="0"/>
              <a:t>‹#›</a:t>
            </a:fld>
            <a:endParaRPr lang="en-US"/>
          </a:p>
        </p:txBody>
      </p:sp>
    </p:spTree>
    <p:extLst>
      <p:ext uri="{BB962C8B-B14F-4D97-AF65-F5344CB8AC3E}">
        <p14:creationId xmlns:p14="http://schemas.microsoft.com/office/powerpoint/2010/main" val="3688629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extLst>
      <p:ext uri="{BB962C8B-B14F-4D97-AF65-F5344CB8AC3E}">
        <p14:creationId xmlns:p14="http://schemas.microsoft.com/office/powerpoint/2010/main" val="1529253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extLst>
      <p:ext uri="{BB962C8B-B14F-4D97-AF65-F5344CB8AC3E}">
        <p14:creationId xmlns:p14="http://schemas.microsoft.com/office/powerpoint/2010/main" val="61365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extLst>
      <p:ext uri="{BB962C8B-B14F-4D97-AF65-F5344CB8AC3E}">
        <p14:creationId xmlns:p14="http://schemas.microsoft.com/office/powerpoint/2010/main" val="3824961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extLst>
      <p:ext uri="{BB962C8B-B14F-4D97-AF65-F5344CB8AC3E}">
        <p14:creationId xmlns:p14="http://schemas.microsoft.com/office/powerpoint/2010/main" val="11387161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545832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extLst>
      <p:ext uri="{BB962C8B-B14F-4D97-AF65-F5344CB8AC3E}">
        <p14:creationId xmlns:p14="http://schemas.microsoft.com/office/powerpoint/2010/main" val="3894588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0476FA66-9C2B-4C89-AF60-397CDD3F750F}" type="datetimeFigureOut">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571142-EF77-4ACE-B553-43BAC50633D5}" type="slidenum">
              <a:rPr lang="en-US" smtClean="0"/>
              <a:t>‹#›</a:t>
            </a:fld>
            <a:endParaRPr lang="en-US"/>
          </a:p>
        </p:txBody>
      </p:sp>
    </p:spTree>
    <p:extLst>
      <p:ext uri="{BB962C8B-B14F-4D97-AF65-F5344CB8AC3E}">
        <p14:creationId xmlns:p14="http://schemas.microsoft.com/office/powerpoint/2010/main" val="1218984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0476FA66-9C2B-4C89-AF60-397CDD3F750F}" type="datetimeFigureOut">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571142-EF77-4ACE-B553-43BAC50633D5}" type="slidenum">
              <a:rPr lang="en-US" smtClean="0"/>
              <a:t>‹#›</a:t>
            </a:fld>
            <a:endParaRPr lang="en-US"/>
          </a:p>
        </p:txBody>
      </p:sp>
    </p:spTree>
    <p:extLst>
      <p:ext uri="{BB962C8B-B14F-4D97-AF65-F5344CB8AC3E}">
        <p14:creationId xmlns:p14="http://schemas.microsoft.com/office/powerpoint/2010/main" val="16774826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76FA66-9C2B-4C89-AF60-397CDD3F750F}"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71142-EF77-4ACE-B553-43BAC50633D5}" type="slidenum">
              <a:rPr lang="en-US" smtClean="0"/>
              <a:t>‹#›</a:t>
            </a:fld>
            <a:endParaRPr lang="en-US"/>
          </a:p>
        </p:txBody>
      </p:sp>
    </p:spTree>
    <p:extLst>
      <p:ext uri="{BB962C8B-B14F-4D97-AF65-F5344CB8AC3E}">
        <p14:creationId xmlns:p14="http://schemas.microsoft.com/office/powerpoint/2010/main" val="20157657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76FA66-9C2B-4C89-AF60-397CDD3F750F}"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71142-EF77-4ACE-B553-43BAC50633D5}" type="slidenum">
              <a:rPr lang="en-US" smtClean="0"/>
              <a:t>‹#›</a:t>
            </a:fld>
            <a:endParaRPr lang="en-US"/>
          </a:p>
        </p:txBody>
      </p:sp>
    </p:spTree>
    <p:extLst>
      <p:ext uri="{BB962C8B-B14F-4D97-AF65-F5344CB8AC3E}">
        <p14:creationId xmlns:p14="http://schemas.microsoft.com/office/powerpoint/2010/main" val="3689173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0476FA66-9C2B-4C89-AF60-397CDD3F750F}" type="datetimeFigureOut">
              <a:rPr lang="en-US" smtClean="0"/>
              <a:t>9/1/2026</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17571142-EF77-4ACE-B553-43BAC50633D5}" type="slidenum">
              <a:rPr lang="en-US" smtClean="0"/>
              <a:t>‹#›</a:t>
            </a:fld>
            <a:endParaRPr lang="en-US"/>
          </a:p>
        </p:txBody>
      </p:sp>
    </p:spTree>
    <p:extLst>
      <p:ext uri="{BB962C8B-B14F-4D97-AF65-F5344CB8AC3E}">
        <p14:creationId xmlns:p14="http://schemas.microsoft.com/office/powerpoint/2010/main" val="2116022827"/>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 id="2147483798" r:id="rId15"/>
    <p:sldLayoutId id="2147483799" r:id="rId16"/>
    <p:sldLayoutId id="2147483800"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2692" y="2897309"/>
            <a:ext cx="10515600" cy="2366353"/>
          </a:xfrm>
        </p:spPr>
        <p:txBody>
          <a:bodyPr>
            <a:normAutofit fontScale="90000"/>
          </a:bodyPr>
          <a:lstStyle/>
          <a:p>
            <a:r>
              <a:rPr lang="en-GB" dirty="0" smtClean="0"/>
              <a:t>Qn</a:t>
            </a:r>
            <a:r>
              <a:rPr lang="en-GB" dirty="0" smtClean="0"/>
              <a:t>. 1 </a:t>
            </a:r>
            <a:br>
              <a:rPr lang="en-GB" dirty="0" smtClean="0"/>
            </a:br>
            <a:r>
              <a:rPr lang="en-GB" b="1" dirty="0" smtClean="0"/>
              <a:t>Discuss </a:t>
            </a:r>
            <a:r>
              <a:rPr lang="en-GB" b="1" dirty="0"/>
              <a:t>the 7 layers of OSI model specifying the responsibilities for each layer and the protocols that operate at each layer and what they do.</a:t>
            </a:r>
            <a:endParaRPr lang="en-US" b="1" dirty="0"/>
          </a:p>
        </p:txBody>
      </p:sp>
    </p:spTree>
    <p:extLst>
      <p:ext uri="{BB962C8B-B14F-4D97-AF65-F5344CB8AC3E}">
        <p14:creationId xmlns:p14="http://schemas.microsoft.com/office/powerpoint/2010/main" val="343659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Physical Layer</a:t>
            </a:r>
            <a:r>
              <a:rPr lang="en-US" dirty="0"/>
              <a:t/>
            </a:r>
            <a:br>
              <a:rPr lang="en-US" dirty="0"/>
            </a:br>
            <a:endParaRPr lang="en-US" dirty="0"/>
          </a:p>
        </p:txBody>
      </p:sp>
      <p:sp>
        <p:nvSpPr>
          <p:cNvPr id="3" name="Content Placeholder 2"/>
          <p:cNvSpPr>
            <a:spLocks noGrp="1"/>
          </p:cNvSpPr>
          <p:nvPr>
            <p:ph sz="quarter" idx="13"/>
          </p:nvPr>
        </p:nvSpPr>
        <p:spPr/>
        <p:txBody>
          <a:bodyPr>
            <a:normAutofit fontScale="92500" lnSpcReduction="10000"/>
          </a:bodyPr>
          <a:lstStyle/>
          <a:p>
            <a:r>
              <a:rPr lang="en-US" dirty="0" smtClean="0"/>
              <a:t>Deals </a:t>
            </a:r>
            <a:r>
              <a:rPr lang="en-US" dirty="0"/>
              <a:t>with all aspects of physically moving data from one computer to the next</a:t>
            </a:r>
          </a:p>
          <a:p>
            <a:r>
              <a:rPr lang="en-US" dirty="0" smtClean="0"/>
              <a:t> </a:t>
            </a:r>
            <a:r>
              <a:rPr lang="en-US" dirty="0"/>
              <a:t>Converts data from the upper layers into 1s and 0s for transmission over media </a:t>
            </a:r>
          </a:p>
          <a:p>
            <a:r>
              <a:rPr lang="en-US" dirty="0" smtClean="0"/>
              <a:t> </a:t>
            </a:r>
            <a:r>
              <a:rPr lang="en-US" dirty="0"/>
              <a:t>Defines how data is encoded onto the media to transmit the data</a:t>
            </a:r>
          </a:p>
          <a:p>
            <a:r>
              <a:rPr lang="en-US" dirty="0" smtClean="0"/>
              <a:t> </a:t>
            </a:r>
            <a:r>
              <a:rPr lang="en-US" dirty="0"/>
              <a:t>Cable standards, wireless standards, and fiber optic standards. Copper wiring, fiber optic cable, radio frequencies, anything that can be used to transmit data is defined on the Physical layer of the OSI Model</a:t>
            </a:r>
          </a:p>
          <a:p>
            <a:pPr marL="0" indent="0">
              <a:buNone/>
            </a:pPr>
            <a:r>
              <a:rPr lang="en-US" dirty="0" smtClean="0"/>
              <a:t>Device </a:t>
            </a:r>
            <a:r>
              <a:rPr lang="en-US" dirty="0"/>
              <a:t>example: Hub</a:t>
            </a:r>
          </a:p>
          <a:p>
            <a:pPr>
              <a:buFont typeface="Wingdings" panose="05000000000000000000" pitchFamily="2" charset="2"/>
              <a:buChar char="Ø"/>
            </a:pPr>
            <a:r>
              <a:rPr lang="en-US" dirty="0"/>
              <a:t> </a:t>
            </a:r>
            <a:r>
              <a:rPr lang="en-US" dirty="0" smtClean="0"/>
              <a:t>Used </a:t>
            </a:r>
            <a:r>
              <a:rPr lang="en-US" dirty="0"/>
              <a:t>to transmit data </a:t>
            </a:r>
          </a:p>
        </p:txBody>
      </p:sp>
    </p:spTree>
    <p:extLst>
      <p:ext uri="{BB962C8B-B14F-4D97-AF65-F5344CB8AC3E}">
        <p14:creationId xmlns:p14="http://schemas.microsoft.com/office/powerpoint/2010/main" val="12530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Link Layer</a:t>
            </a:r>
            <a:r>
              <a:rPr lang="en-US" dirty="0"/>
              <a:t> </a:t>
            </a:r>
          </a:p>
        </p:txBody>
      </p:sp>
      <p:sp>
        <p:nvSpPr>
          <p:cNvPr id="3" name="Content Placeholder 2"/>
          <p:cNvSpPr>
            <a:spLocks noGrp="1"/>
          </p:cNvSpPr>
          <p:nvPr>
            <p:ph sz="quarter" idx="13"/>
          </p:nvPr>
        </p:nvSpPr>
        <p:spPr/>
        <p:txBody>
          <a:bodyPr>
            <a:normAutofit/>
          </a:bodyPr>
          <a:lstStyle/>
          <a:p>
            <a:r>
              <a:rPr lang="en-US" dirty="0" smtClean="0"/>
              <a:t>Is </a:t>
            </a:r>
            <a:r>
              <a:rPr lang="en-US" dirty="0"/>
              <a:t>responsible for moving frames from node to node or computer to computer </a:t>
            </a:r>
          </a:p>
          <a:p>
            <a:r>
              <a:rPr lang="en-US" dirty="0" smtClean="0"/>
              <a:t>Can </a:t>
            </a:r>
            <a:r>
              <a:rPr lang="en-US" dirty="0"/>
              <a:t>move frames from one adjacent computer to another, cannot move frames across routers </a:t>
            </a:r>
          </a:p>
          <a:p>
            <a:r>
              <a:rPr lang="en-US" dirty="0" smtClean="0"/>
              <a:t>Encapsulation </a:t>
            </a:r>
            <a:r>
              <a:rPr lang="en-US" dirty="0"/>
              <a:t>= frame</a:t>
            </a:r>
          </a:p>
          <a:p>
            <a:r>
              <a:rPr lang="en-US" dirty="0" smtClean="0"/>
              <a:t>Requires </a:t>
            </a:r>
            <a:r>
              <a:rPr lang="en-US" dirty="0"/>
              <a:t>MAC address or physical address </a:t>
            </a:r>
          </a:p>
          <a:p>
            <a:r>
              <a:rPr lang="en-US" dirty="0" smtClean="0"/>
              <a:t>Protocols </a:t>
            </a:r>
            <a:r>
              <a:rPr lang="en-US" dirty="0"/>
              <a:t>defined include Ethernet Protocol and Point-to-Point Protocol (PPP)</a:t>
            </a:r>
          </a:p>
          <a:p>
            <a:r>
              <a:rPr lang="en-US" dirty="0" smtClean="0"/>
              <a:t>Device </a:t>
            </a:r>
            <a:r>
              <a:rPr lang="en-US" dirty="0"/>
              <a:t>example: Switch </a:t>
            </a:r>
          </a:p>
          <a:p>
            <a:pPr marL="0" indent="0">
              <a:buNone/>
            </a:pPr>
            <a:endParaRPr lang="en-US" dirty="0"/>
          </a:p>
        </p:txBody>
      </p:sp>
    </p:spTree>
    <p:extLst>
      <p:ext uri="{BB962C8B-B14F-4D97-AF65-F5344CB8AC3E}">
        <p14:creationId xmlns:p14="http://schemas.microsoft.com/office/powerpoint/2010/main" val="1284047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 SUB LAYERS OF DATA LINK LAYER</a:t>
            </a:r>
            <a:endParaRPr lang="en-US" dirty="0"/>
          </a:p>
        </p:txBody>
      </p:sp>
      <p:sp>
        <p:nvSpPr>
          <p:cNvPr id="3" name="Content Placeholder 2"/>
          <p:cNvSpPr>
            <a:spLocks noGrp="1"/>
          </p:cNvSpPr>
          <p:nvPr>
            <p:ph sz="quarter" idx="13"/>
          </p:nvPr>
        </p:nvSpPr>
        <p:spPr/>
        <p:txBody>
          <a:bodyPr>
            <a:normAutofit/>
          </a:bodyPr>
          <a:lstStyle/>
          <a:p>
            <a:pPr marL="0" indent="0">
              <a:buNone/>
            </a:pPr>
            <a:r>
              <a:rPr lang="en-US" dirty="0" smtClean="0"/>
              <a:t>    These include; Logical </a:t>
            </a:r>
            <a:r>
              <a:rPr lang="en-US" dirty="0"/>
              <a:t>Link Control (LLC) and the Media Access Control (MAC) </a:t>
            </a:r>
          </a:p>
          <a:p>
            <a:pPr>
              <a:buFont typeface="Wingdings" panose="05000000000000000000" pitchFamily="2" charset="2"/>
              <a:buChar char="Ø"/>
            </a:pPr>
            <a:r>
              <a:rPr lang="en-US" b="1" dirty="0"/>
              <a:t> </a:t>
            </a:r>
            <a:r>
              <a:rPr lang="en-US" b="1" dirty="0" smtClean="0"/>
              <a:t>Logical </a:t>
            </a:r>
            <a:r>
              <a:rPr lang="en-US" b="1" dirty="0"/>
              <a:t>Link Control (LLC</a:t>
            </a:r>
            <a:r>
              <a:rPr lang="en-US" dirty="0"/>
              <a:t>) </a:t>
            </a:r>
          </a:p>
          <a:p>
            <a:pPr marL="0" indent="0">
              <a:buNone/>
            </a:pPr>
            <a:r>
              <a:rPr lang="en-US" dirty="0">
                <a:sym typeface="Symbol" panose="05050102010706020507" pitchFamily="18" charset="2"/>
              </a:rPr>
              <a:t> </a:t>
            </a:r>
            <a:r>
              <a:rPr lang="en-US" dirty="0" smtClean="0">
                <a:sym typeface="Symbol" panose="05050102010706020507" pitchFamily="18" charset="2"/>
              </a:rPr>
              <a:t>   </a:t>
            </a:r>
            <a:r>
              <a:rPr lang="en-US" dirty="0" smtClean="0"/>
              <a:t>Data </a:t>
            </a:r>
            <a:r>
              <a:rPr lang="en-US" dirty="0"/>
              <a:t>Link layer addressing, flow control, address notification, error control </a:t>
            </a:r>
          </a:p>
          <a:p>
            <a:pPr>
              <a:buFont typeface="Wingdings" panose="05000000000000000000" pitchFamily="2" charset="2"/>
              <a:buChar char="Ø"/>
            </a:pPr>
            <a:r>
              <a:rPr lang="en-US" b="1" dirty="0" smtClean="0"/>
              <a:t> </a:t>
            </a:r>
            <a:r>
              <a:rPr lang="en-US" b="1" dirty="0"/>
              <a:t>Media Access Control (MAC)</a:t>
            </a:r>
            <a:r>
              <a:rPr lang="en-US" dirty="0"/>
              <a:t> </a:t>
            </a:r>
          </a:p>
          <a:p>
            <a:pPr marL="0" indent="0">
              <a:buNone/>
            </a:pPr>
            <a:r>
              <a:rPr lang="en-US" dirty="0">
                <a:sym typeface="Symbol" panose="05050102010706020507" pitchFamily="18" charset="2"/>
              </a:rPr>
              <a:t> </a:t>
            </a:r>
            <a:r>
              <a:rPr lang="en-US" dirty="0" smtClean="0">
                <a:sym typeface="Symbol" panose="05050102010706020507" pitchFamily="18" charset="2"/>
              </a:rPr>
              <a:t>   </a:t>
            </a:r>
            <a:r>
              <a:rPr lang="en-US" dirty="0" smtClean="0"/>
              <a:t>Determines </a:t>
            </a:r>
            <a:r>
              <a:rPr lang="en-US" dirty="0"/>
              <a:t>which computer has access to the network media at any given time </a:t>
            </a:r>
          </a:p>
          <a:p>
            <a:pPr marL="0" indent="0">
              <a:buNone/>
            </a:pPr>
            <a:r>
              <a:rPr lang="en-US" dirty="0">
                <a:sym typeface="Symbol" panose="05050102010706020507" pitchFamily="18" charset="2"/>
              </a:rPr>
              <a:t> </a:t>
            </a:r>
            <a:r>
              <a:rPr lang="en-US" dirty="0" smtClean="0">
                <a:sym typeface="Symbol" panose="05050102010706020507" pitchFamily="18" charset="2"/>
              </a:rPr>
              <a:t>   </a:t>
            </a:r>
            <a:r>
              <a:rPr lang="en-US" dirty="0" smtClean="0"/>
              <a:t>Determines </a:t>
            </a:r>
            <a:r>
              <a:rPr lang="en-US" dirty="0"/>
              <a:t>where one frame ends and the next one starts, called frame synchronization</a:t>
            </a:r>
          </a:p>
        </p:txBody>
      </p:sp>
    </p:spTree>
    <p:extLst>
      <p:ext uri="{BB962C8B-B14F-4D97-AF65-F5344CB8AC3E}">
        <p14:creationId xmlns:p14="http://schemas.microsoft.com/office/powerpoint/2010/main" val="2336562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Network Layer</a:t>
            </a:r>
            <a:endParaRPr lang="en-US" dirty="0"/>
          </a:p>
        </p:txBody>
      </p:sp>
      <p:sp>
        <p:nvSpPr>
          <p:cNvPr id="3" name="Content Placeholder 2"/>
          <p:cNvSpPr>
            <a:spLocks noGrp="1"/>
          </p:cNvSpPr>
          <p:nvPr>
            <p:ph sz="quarter" idx="13"/>
          </p:nvPr>
        </p:nvSpPr>
        <p:spPr/>
        <p:txBody>
          <a:bodyPr>
            <a:normAutofit fontScale="85000" lnSpcReduction="20000"/>
          </a:bodyPr>
          <a:lstStyle/>
          <a:p>
            <a:r>
              <a:rPr lang="en-US" dirty="0" smtClean="0"/>
              <a:t> </a:t>
            </a:r>
            <a:r>
              <a:rPr lang="en-US" sz="3200" dirty="0"/>
              <a:t>Responsible for moving packets (data) from one end of the network to the other, called end-to-end communications </a:t>
            </a:r>
          </a:p>
          <a:p>
            <a:r>
              <a:rPr lang="en-US" sz="3200" dirty="0" smtClean="0"/>
              <a:t>Requires </a:t>
            </a:r>
            <a:r>
              <a:rPr lang="en-US" sz="3200" dirty="0"/>
              <a:t>logical addresses such as IP addresses </a:t>
            </a:r>
          </a:p>
          <a:p>
            <a:r>
              <a:rPr lang="en-US" sz="3200" dirty="0" smtClean="0"/>
              <a:t>Device </a:t>
            </a:r>
            <a:r>
              <a:rPr lang="en-US" sz="3200" dirty="0"/>
              <a:t>example: Router</a:t>
            </a:r>
          </a:p>
          <a:p>
            <a:r>
              <a:rPr lang="en-US" sz="3200" dirty="0"/>
              <a:t> </a:t>
            </a:r>
            <a:r>
              <a:rPr lang="en-US" sz="3200" dirty="0" smtClean="0"/>
              <a:t>Routing </a:t>
            </a:r>
            <a:r>
              <a:rPr lang="en-US" sz="3200" dirty="0"/>
              <a:t>is the ability of various network devices and their related software to move data packets from source to destination </a:t>
            </a:r>
          </a:p>
        </p:txBody>
      </p:sp>
    </p:spTree>
    <p:extLst>
      <p:ext uri="{BB962C8B-B14F-4D97-AF65-F5344CB8AC3E}">
        <p14:creationId xmlns:p14="http://schemas.microsoft.com/office/powerpoint/2010/main" val="3036957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2830"/>
            <a:ext cx="10515600" cy="858175"/>
          </a:xfrm>
        </p:spPr>
        <p:txBody>
          <a:bodyPr/>
          <a:lstStyle/>
          <a:p>
            <a:pPr algn="ctr"/>
            <a:r>
              <a:rPr lang="en-US" b="1" dirty="0"/>
              <a:t>Transport Layer </a:t>
            </a:r>
            <a:endParaRPr lang="en-US" dirty="0"/>
          </a:p>
        </p:txBody>
      </p:sp>
      <p:sp>
        <p:nvSpPr>
          <p:cNvPr id="3" name="Content Placeholder 2"/>
          <p:cNvSpPr>
            <a:spLocks noGrp="1"/>
          </p:cNvSpPr>
          <p:nvPr>
            <p:ph sz="quarter" idx="13"/>
          </p:nvPr>
        </p:nvSpPr>
        <p:spPr>
          <a:xfrm>
            <a:off x="838200" y="981005"/>
            <a:ext cx="10515600" cy="5488034"/>
          </a:xfrm>
        </p:spPr>
        <p:txBody>
          <a:bodyPr>
            <a:noAutofit/>
          </a:bodyPr>
          <a:lstStyle/>
          <a:p>
            <a:r>
              <a:rPr lang="en-US" dirty="0" smtClean="0"/>
              <a:t> </a:t>
            </a:r>
            <a:r>
              <a:rPr lang="en-US" dirty="0"/>
              <a:t>Takes data from higher levels of OSI Model and breaks it into segments that can be sent to lower-level layers for data transmission</a:t>
            </a:r>
          </a:p>
          <a:p>
            <a:r>
              <a:rPr lang="en-US" dirty="0"/>
              <a:t> </a:t>
            </a:r>
            <a:r>
              <a:rPr lang="en-US" dirty="0" smtClean="0"/>
              <a:t>Conversely</a:t>
            </a:r>
            <a:r>
              <a:rPr lang="en-US" dirty="0"/>
              <a:t>, reassembles data segments into data that higher-level protocols and applications can use </a:t>
            </a:r>
            <a:r>
              <a:rPr lang="en-US" dirty="0">
                <a:sym typeface="Symbol" panose="05050102010706020507" pitchFamily="18" charset="2"/>
              </a:rPr>
              <a:t></a:t>
            </a:r>
            <a:r>
              <a:rPr lang="en-US" dirty="0"/>
              <a:t> Also puts segments in correct order (called sequencing ) so they can be reassembled in correct order at destination</a:t>
            </a:r>
          </a:p>
          <a:p>
            <a:r>
              <a:rPr lang="en-US" dirty="0" smtClean="0"/>
              <a:t> </a:t>
            </a:r>
            <a:r>
              <a:rPr lang="en-US" dirty="0"/>
              <a:t>Concerned with the reliability of the transport of sent data </a:t>
            </a:r>
          </a:p>
          <a:p>
            <a:r>
              <a:rPr lang="en-US" dirty="0" smtClean="0"/>
              <a:t> </a:t>
            </a:r>
            <a:r>
              <a:rPr lang="en-US" dirty="0"/>
              <a:t>May use a connection-oriented protocol such as TCP to ensure destination received segments </a:t>
            </a:r>
          </a:p>
          <a:p>
            <a:r>
              <a:rPr lang="en-US" dirty="0" smtClean="0"/>
              <a:t>May </a:t>
            </a:r>
            <a:r>
              <a:rPr lang="en-US" dirty="0"/>
              <a:t>use a connectionless protocol such as UDP to send segments without assurance of delivery </a:t>
            </a:r>
          </a:p>
          <a:p>
            <a:r>
              <a:rPr lang="en-US" dirty="0" smtClean="0"/>
              <a:t>Uses </a:t>
            </a:r>
            <a:r>
              <a:rPr lang="en-US" dirty="0"/>
              <a:t>port addressing </a:t>
            </a:r>
          </a:p>
        </p:txBody>
      </p:sp>
    </p:spTree>
    <p:extLst>
      <p:ext uri="{BB962C8B-B14F-4D97-AF65-F5344CB8AC3E}">
        <p14:creationId xmlns:p14="http://schemas.microsoft.com/office/powerpoint/2010/main" val="4165115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Session Layer </a:t>
            </a:r>
            <a:endParaRPr lang="en-US" dirty="0"/>
          </a:p>
        </p:txBody>
      </p:sp>
      <p:sp>
        <p:nvSpPr>
          <p:cNvPr id="3" name="Content Placeholder 2"/>
          <p:cNvSpPr>
            <a:spLocks noGrp="1"/>
          </p:cNvSpPr>
          <p:nvPr>
            <p:ph sz="quarter" idx="13"/>
          </p:nvPr>
        </p:nvSpPr>
        <p:spPr/>
        <p:txBody>
          <a:bodyPr>
            <a:normAutofit fontScale="77500" lnSpcReduction="20000"/>
          </a:bodyPr>
          <a:lstStyle/>
          <a:p>
            <a:r>
              <a:rPr lang="en-US" sz="3200" dirty="0" smtClean="0"/>
              <a:t>Responsible </a:t>
            </a:r>
            <a:r>
              <a:rPr lang="en-US" sz="3200" dirty="0"/>
              <a:t>for managing the dialog between networked devices </a:t>
            </a:r>
          </a:p>
          <a:p>
            <a:r>
              <a:rPr lang="en-US" sz="3200" dirty="0" smtClean="0"/>
              <a:t>Establishes</a:t>
            </a:r>
            <a:r>
              <a:rPr lang="en-US" sz="3200" dirty="0"/>
              <a:t>, manages, and terminates connections </a:t>
            </a:r>
          </a:p>
          <a:p>
            <a:r>
              <a:rPr lang="en-US" sz="3200" dirty="0" smtClean="0"/>
              <a:t>Provides </a:t>
            </a:r>
            <a:r>
              <a:rPr lang="en-US" sz="3200" dirty="0"/>
              <a:t>duplex, half-duplex, or simplex communications between devices </a:t>
            </a:r>
          </a:p>
          <a:p>
            <a:r>
              <a:rPr lang="en-US" sz="3200" dirty="0" smtClean="0"/>
              <a:t>Provides </a:t>
            </a:r>
            <a:r>
              <a:rPr lang="en-US" sz="3200" dirty="0"/>
              <a:t>procedures for establishing checkpoints, adjournment, termination, and restart or recovery procedures </a:t>
            </a:r>
          </a:p>
          <a:p>
            <a:endParaRPr lang="en-US" sz="3200" dirty="0"/>
          </a:p>
        </p:txBody>
      </p:sp>
    </p:spTree>
    <p:extLst>
      <p:ext uri="{BB962C8B-B14F-4D97-AF65-F5344CB8AC3E}">
        <p14:creationId xmlns:p14="http://schemas.microsoft.com/office/powerpoint/2010/main" val="2135908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Presentation Layer </a:t>
            </a:r>
            <a:r>
              <a:rPr lang="en-US" dirty="0"/>
              <a:t/>
            </a:r>
            <a:br>
              <a:rPr lang="en-US" dirty="0"/>
            </a:br>
            <a:endParaRPr lang="en-US" dirty="0"/>
          </a:p>
        </p:txBody>
      </p:sp>
      <p:sp>
        <p:nvSpPr>
          <p:cNvPr id="3" name="Content Placeholder 2"/>
          <p:cNvSpPr>
            <a:spLocks noGrp="1"/>
          </p:cNvSpPr>
          <p:nvPr>
            <p:ph sz="quarter" idx="13"/>
          </p:nvPr>
        </p:nvSpPr>
        <p:spPr/>
        <p:txBody>
          <a:bodyPr/>
          <a:lstStyle/>
          <a:p>
            <a:r>
              <a:rPr lang="en-US" dirty="0" smtClean="0"/>
              <a:t> </a:t>
            </a:r>
            <a:r>
              <a:rPr lang="en-US" dirty="0" smtClean="0"/>
              <a:t>This is concerned </a:t>
            </a:r>
            <a:r>
              <a:rPr lang="en-US" dirty="0"/>
              <a:t>with how data is presented to the network</a:t>
            </a:r>
          </a:p>
          <a:p>
            <a:pPr marL="0" indent="0">
              <a:buNone/>
            </a:pPr>
            <a:r>
              <a:rPr lang="en-US" dirty="0" smtClean="0"/>
              <a:t> This handles </a:t>
            </a:r>
            <a:r>
              <a:rPr lang="en-US" dirty="0"/>
              <a:t>three primary tasks:</a:t>
            </a:r>
          </a:p>
          <a:p>
            <a:pPr>
              <a:buFont typeface="Wingdings" panose="05000000000000000000" pitchFamily="2" charset="2"/>
              <a:buChar char="Ø"/>
            </a:pPr>
            <a:r>
              <a:rPr lang="en-US" dirty="0"/>
              <a:t> Translation; this changes data so that another computer can understand it</a:t>
            </a:r>
          </a:p>
          <a:p>
            <a:pPr>
              <a:buFont typeface="Wingdings" panose="05000000000000000000" pitchFamily="2" charset="2"/>
              <a:buChar char="Ø"/>
            </a:pPr>
            <a:r>
              <a:rPr lang="en-US" dirty="0"/>
              <a:t> Compression; this makes data smaller to send more data in the same amount of time </a:t>
            </a:r>
          </a:p>
          <a:p>
            <a:pPr>
              <a:buFont typeface="Wingdings" panose="05000000000000000000" pitchFamily="2" charset="2"/>
              <a:buChar char="Ø"/>
            </a:pPr>
            <a:r>
              <a:rPr lang="en-US" dirty="0"/>
              <a:t>Encryption; Encodes data to protect from interception or eavesdropping.</a:t>
            </a: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2127326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Application Layer</a:t>
            </a:r>
            <a:r>
              <a:rPr lang="en-US" dirty="0"/>
              <a:t/>
            </a:r>
            <a:br>
              <a:rPr lang="en-US" dirty="0"/>
            </a:br>
            <a:endParaRPr lang="en-US" b="1" dirty="0"/>
          </a:p>
        </p:txBody>
      </p:sp>
      <p:sp>
        <p:nvSpPr>
          <p:cNvPr id="3" name="Content Placeholder 2"/>
          <p:cNvSpPr>
            <a:spLocks noGrp="1"/>
          </p:cNvSpPr>
          <p:nvPr>
            <p:ph sz="quarter" idx="13"/>
          </p:nvPr>
        </p:nvSpPr>
        <p:spPr/>
        <p:txBody>
          <a:bodyPr/>
          <a:lstStyle/>
          <a:p>
            <a:r>
              <a:rPr lang="en-US" dirty="0" smtClean="0"/>
              <a:t>Contains </a:t>
            </a:r>
            <a:r>
              <a:rPr lang="en-US" dirty="0"/>
              <a:t>all services or protocols needed by application software or operating system to communicate on the </a:t>
            </a:r>
            <a:r>
              <a:rPr lang="en-US" dirty="0" smtClean="0"/>
              <a:t>network. </a:t>
            </a:r>
          </a:p>
          <a:p>
            <a:pPr marL="0" indent="0">
              <a:buNone/>
            </a:pPr>
            <a:r>
              <a:rPr lang="en-US" dirty="0"/>
              <a:t> </a:t>
            </a:r>
            <a:r>
              <a:rPr lang="en-US" dirty="0" smtClean="0"/>
              <a:t>Examples</a:t>
            </a:r>
          </a:p>
          <a:p>
            <a:pPr>
              <a:buFont typeface="Wingdings" panose="05000000000000000000" pitchFamily="2" charset="2"/>
              <a:buChar char="ü"/>
            </a:pPr>
            <a:r>
              <a:rPr lang="en-US" dirty="0"/>
              <a:t> </a:t>
            </a:r>
            <a:r>
              <a:rPr lang="en-US" dirty="0" smtClean="0"/>
              <a:t>  Firefox </a:t>
            </a:r>
            <a:r>
              <a:rPr lang="en-US" dirty="0"/>
              <a:t>web browser uses HTTP (Hyper-Text Transport Protocol) </a:t>
            </a:r>
          </a:p>
          <a:p>
            <a:pPr>
              <a:buFont typeface="Wingdings" panose="05000000000000000000" pitchFamily="2" charset="2"/>
              <a:buChar char="ü"/>
            </a:pPr>
            <a:r>
              <a:rPr lang="en-US" dirty="0" smtClean="0"/>
              <a:t>  E-mail </a:t>
            </a:r>
            <a:r>
              <a:rPr lang="en-US" dirty="0"/>
              <a:t>program may use POP3 (Post Office Protocol version 3) to read e-mails and SMTP (Simple Mail Transport Protocol) to send e-mails</a:t>
            </a:r>
          </a:p>
        </p:txBody>
      </p:sp>
    </p:spTree>
    <p:extLst>
      <p:ext uri="{BB962C8B-B14F-4D97-AF65-F5344CB8AC3E}">
        <p14:creationId xmlns:p14="http://schemas.microsoft.com/office/powerpoint/2010/main" val="118193971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42</TotalTime>
  <Words>557</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Symbol</vt:lpstr>
      <vt:lpstr>Tw Cen MT</vt:lpstr>
      <vt:lpstr>Wingdings</vt:lpstr>
      <vt:lpstr>Droplet</vt:lpstr>
      <vt:lpstr>Qn. 1  Discuss the 7 layers of OSI model specifying the responsibilities for each layer and the protocols that operate at each layer and what they do.</vt:lpstr>
      <vt:lpstr>Physical Layer </vt:lpstr>
      <vt:lpstr>Data Link Layer </vt:lpstr>
      <vt:lpstr> SUB LAYERS OF DATA LINK LAYER</vt:lpstr>
      <vt:lpstr>Network Layer</vt:lpstr>
      <vt:lpstr>Transport Layer </vt:lpstr>
      <vt:lpstr>Session Layer </vt:lpstr>
      <vt:lpstr>Presentation Layer  </vt:lpstr>
      <vt:lpstr>Application Layer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Qtn. 1  Discuss the 7 layers of OSI model specifying the responsibilities for each layer and the protocols that operate at each layer and what they do.</dc:title>
  <dc:creator>USER</dc:creator>
  <cp:lastModifiedBy>USER</cp:lastModifiedBy>
  <cp:revision>7</cp:revision>
  <dcterms:created xsi:type="dcterms:W3CDTF">2026-09-01T08:52:56Z</dcterms:created>
  <dcterms:modified xsi:type="dcterms:W3CDTF">2026-09-01T10:57:02Z</dcterms:modified>
</cp:coreProperties>
</file>